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embeddedFontLst>
    <p:embeddedFont>
      <p:font typeface="Lato Light" panose="020B0604020202020204"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Raleway" panose="020B0604020202020204" charset="0"/>
      <p:regular r:id="rId39"/>
      <p:bold r:id="rId40"/>
      <p:italic r:id="rId41"/>
      <p:boldItalic r:id="rId42"/>
    </p:embeddedFont>
    <p:embeddedFont>
      <p:font typeface="Lato"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hRfPNH7VqM8N7nXqSEudXTjZWo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76" d="100"/>
          <a:sy n="76" d="100"/>
        </p:scale>
        <p:origin x="-1206" y="-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71"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8" Type="http://schemas.openxmlformats.org/officeDocument/2006/relationships/slide" Target="slides/slide7.xml"/><Relationship Id="rId7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PT"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348743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b76541bbe3_0_199: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b76541bbe3_0_1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b76541bbe3_0_2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b76541bbe3_0_2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gb76541bbe3_0_29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t-PT"/>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b76541bbe3_0_3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b76541bbe3_0_3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b76541bbe3_0_32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b76541bbe3_0_3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b76541bbe3_0_3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b76541bbe3_0_35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b76541bbe3_0_3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b76541bbe3_0_3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b76541bbe3_0_37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b76541bbe3_0_3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b76541bbe3_0_3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b76541bbe3_0_39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b76541bbe3_0_4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b76541bbe3_0_4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b76541bbe3_0_41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b76541bbe3_0_4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b76541bbe3_0_4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b76541bbe3_0_42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b76541bbe3_0_4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b76541bbe3_0_4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b76541bbe3_0_43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b76541bbe3_0_4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b76541bbe3_0_4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gb76541bbe3_0_44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b76541bbe3_0_4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b76541bbe3_0_4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gb76541bbe3_0_45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b76541bbe3_0_4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b76541bbe3_0_4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b76541bbe3_0_47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b76541bbe3_0_4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b76541bbe3_0_4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b76541bbe3_0_48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b76541bbe3_0_4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b76541bbe3_0_4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b76541bbe3_0_49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b76541bbe3_0_5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b76541bbe3_0_5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gb76541bbe3_0_51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b76541bbe3_0_5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b76541bbe3_0_5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gb76541bbe3_0_52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b76541bbe3_0_5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b76541bbe3_0_5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gb76541bbe3_0_54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b76541bbe3_0_5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b76541bbe3_0_5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b76541bbe3_0_57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b76541bbe3_0_6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b76541bbe3_0_6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b76541bbe3_0_61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b76541bbe3_0_6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b76541bbe3_0_6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gb76541bbe3_0_63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b76541bbe3_0_6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b76541bbe3_0_6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b76541bbe3_0_65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b76541bbe3_0_6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b76541bbe3_0_6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gb76541bbe3_0_67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b76541bbe3_0_6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b76541bbe3_0_6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gb76541bbe3_0_68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b76541bbe3_0_6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b76541bbe3_0_6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gb76541bbe3_0_69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b76541bbe3_0_7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b76541bbe3_0_7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gb76541bbe3_0_70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b76541bbe3_0_7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b76541bbe3_0_7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gb76541bbe3_0_71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b76541bbe3_0_7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b76541bbe3_0_7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gb76541bbe3_0_73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pt-PT"/>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b76541bbe3_0_751:notes"/>
          <p:cNvSpPr>
            <a:spLocks noGrp="1" noRot="1" noChangeAspect="1"/>
          </p:cNvSpPr>
          <p:nvPr>
            <p:ph type="sldImg" idx="2"/>
          </p:nvPr>
        </p:nvSpPr>
        <p:spPr>
          <a:xfrm>
            <a:off x="11433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b76541bbe3_0_7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3"/>
        <p:cNvGrpSpPr/>
        <p:nvPr/>
      </p:nvGrpSpPr>
      <p:grpSpPr>
        <a:xfrm>
          <a:off x="0" y="0"/>
          <a:ext cx="0" cy="0"/>
          <a:chOff x="0" y="0"/>
          <a:chExt cx="0" cy="0"/>
        </a:xfrm>
      </p:grpSpPr>
      <p:cxnSp>
        <p:nvCxnSpPr>
          <p:cNvPr id="14" name="Google Shape;14;gb76541bbe3_0_209"/>
          <p:cNvCxnSpPr/>
          <p:nvPr/>
        </p:nvCxnSpPr>
        <p:spPr>
          <a:xfrm>
            <a:off x="2477724" y="554200"/>
            <a:ext cx="6244200" cy="0"/>
          </a:xfrm>
          <a:prstGeom prst="straightConnector1">
            <a:avLst/>
          </a:prstGeom>
          <a:noFill/>
          <a:ln w="38100" cap="flat" cmpd="sng">
            <a:solidFill>
              <a:schemeClr val="lt1"/>
            </a:solidFill>
            <a:prstDash val="solid"/>
            <a:round/>
            <a:headEnd type="none" w="sm" len="sm"/>
            <a:tailEnd type="none" w="sm" len="sm"/>
          </a:ln>
        </p:spPr>
      </p:cxnSp>
      <p:cxnSp>
        <p:nvCxnSpPr>
          <p:cNvPr id="15" name="Google Shape;15;gb76541bbe3_0_209"/>
          <p:cNvCxnSpPr/>
          <p:nvPr/>
        </p:nvCxnSpPr>
        <p:spPr>
          <a:xfrm>
            <a:off x="2477724" y="632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6" name="Google Shape;16;gb76541bbe3_0_209"/>
          <p:cNvCxnSpPr/>
          <p:nvPr/>
        </p:nvCxnSpPr>
        <p:spPr>
          <a:xfrm>
            <a:off x="425198" y="554200"/>
            <a:ext cx="183300" cy="0"/>
          </a:xfrm>
          <a:prstGeom prst="straightConnector1">
            <a:avLst/>
          </a:prstGeom>
          <a:noFill/>
          <a:ln w="19050" cap="flat" cmpd="sng">
            <a:solidFill>
              <a:schemeClr val="lt1"/>
            </a:solidFill>
            <a:prstDash val="solid"/>
            <a:round/>
            <a:headEnd type="none" w="sm" len="sm"/>
            <a:tailEnd type="none" w="sm" len="sm"/>
          </a:ln>
        </p:spPr>
      </p:cxnSp>
      <p:sp>
        <p:nvSpPr>
          <p:cNvPr id="17" name="Google Shape;17;gb76541bbe3_0_209"/>
          <p:cNvSpPr txBox="1">
            <a:spLocks noGrp="1"/>
          </p:cNvSpPr>
          <p:nvPr>
            <p:ph type="ctrTitle"/>
          </p:nvPr>
        </p:nvSpPr>
        <p:spPr>
          <a:xfrm>
            <a:off x="2371725" y="840300"/>
            <a:ext cx="6331500" cy="20559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8" name="Google Shape;18;gb76541bbe3_0_209"/>
          <p:cNvSpPr txBox="1">
            <a:spLocks noGrp="1"/>
          </p:cNvSpPr>
          <p:nvPr>
            <p:ph type="subTitle" idx="1"/>
          </p:nvPr>
        </p:nvSpPr>
        <p:spPr>
          <a:xfrm>
            <a:off x="2390267" y="4317933"/>
            <a:ext cx="6331500" cy="1655700"/>
          </a:xfrm>
          <a:prstGeom prst="rect">
            <a:avLst/>
          </a:prstGeom>
        </p:spPr>
        <p:txBody>
          <a:bodyPr spcFirstLastPara="1" wrap="square" lIns="91425" tIns="91425" rIns="91425" bIns="91425" anchor="b" anchorCtr="0">
            <a:norm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9" name="Google Shape;19;gb76541bbe3_0_209"/>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0"/>
        <p:cNvGrpSpPr/>
        <p:nvPr/>
      </p:nvGrpSpPr>
      <p:grpSpPr>
        <a:xfrm>
          <a:off x="0" y="0"/>
          <a:ext cx="0" cy="0"/>
          <a:chOff x="0" y="0"/>
          <a:chExt cx="0" cy="0"/>
        </a:xfrm>
      </p:grpSpPr>
      <p:cxnSp>
        <p:nvCxnSpPr>
          <p:cNvPr id="21" name="Google Shape;21;gb76541bbe3_0_216"/>
          <p:cNvCxnSpPr/>
          <p:nvPr/>
        </p:nvCxnSpPr>
        <p:spPr>
          <a:xfrm>
            <a:off x="425200" y="554200"/>
            <a:ext cx="8296800" cy="0"/>
          </a:xfrm>
          <a:prstGeom prst="straightConnector1">
            <a:avLst/>
          </a:prstGeom>
          <a:noFill/>
          <a:ln w="38100" cap="flat" cmpd="sng">
            <a:solidFill>
              <a:schemeClr val="lt1"/>
            </a:solidFill>
            <a:prstDash val="solid"/>
            <a:round/>
            <a:headEnd type="none" w="sm" len="sm"/>
            <a:tailEnd type="none" w="sm" len="sm"/>
          </a:ln>
        </p:spPr>
      </p:cxnSp>
      <p:cxnSp>
        <p:nvCxnSpPr>
          <p:cNvPr id="22" name="Google Shape;22;gb76541bbe3_0_216"/>
          <p:cNvCxnSpPr/>
          <p:nvPr/>
        </p:nvCxnSpPr>
        <p:spPr>
          <a:xfrm>
            <a:off x="425200" y="6320000"/>
            <a:ext cx="8296800" cy="0"/>
          </a:xfrm>
          <a:prstGeom prst="straightConnector1">
            <a:avLst/>
          </a:prstGeom>
          <a:noFill/>
          <a:ln w="19050" cap="flat" cmpd="sng">
            <a:solidFill>
              <a:schemeClr val="lt1"/>
            </a:solidFill>
            <a:prstDash val="solid"/>
            <a:round/>
            <a:headEnd type="none" w="sm" len="sm"/>
            <a:tailEnd type="none" w="sm" len="sm"/>
          </a:ln>
        </p:spPr>
      </p:cxnSp>
      <p:sp>
        <p:nvSpPr>
          <p:cNvPr id="23" name="Google Shape;23;gb76541bbe3_0_216"/>
          <p:cNvSpPr txBox="1">
            <a:spLocks noGrp="1"/>
          </p:cNvSpPr>
          <p:nvPr>
            <p:ph type="title"/>
          </p:nvPr>
        </p:nvSpPr>
        <p:spPr>
          <a:xfrm>
            <a:off x="406425" y="2409100"/>
            <a:ext cx="8296800" cy="20559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24" name="Google Shape;24;gb76541bbe3_0_216"/>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cxnSp>
        <p:nvCxnSpPr>
          <p:cNvPr id="26" name="Google Shape;26;gb76541bbe3_0_221"/>
          <p:cNvCxnSpPr/>
          <p:nvPr/>
        </p:nvCxnSpPr>
        <p:spPr>
          <a:xfrm>
            <a:off x="2477724" y="554200"/>
            <a:ext cx="6244200" cy="0"/>
          </a:xfrm>
          <a:prstGeom prst="straightConnector1">
            <a:avLst/>
          </a:prstGeom>
          <a:noFill/>
          <a:ln w="38100" cap="flat" cmpd="sng">
            <a:solidFill>
              <a:schemeClr val="dk2"/>
            </a:solidFill>
            <a:prstDash val="solid"/>
            <a:round/>
            <a:headEnd type="none" w="sm" len="sm"/>
            <a:tailEnd type="none" w="sm" len="sm"/>
          </a:ln>
        </p:spPr>
      </p:cxnSp>
      <p:cxnSp>
        <p:nvCxnSpPr>
          <p:cNvPr id="27" name="Google Shape;27;gb76541bbe3_0_221"/>
          <p:cNvCxnSpPr/>
          <p:nvPr/>
        </p:nvCxnSpPr>
        <p:spPr>
          <a:xfrm>
            <a:off x="2477724" y="632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8" name="Google Shape;28;gb76541bbe3_0_221"/>
          <p:cNvCxnSpPr/>
          <p:nvPr/>
        </p:nvCxnSpPr>
        <p:spPr>
          <a:xfrm>
            <a:off x="425198" y="554200"/>
            <a:ext cx="183300" cy="0"/>
          </a:xfrm>
          <a:prstGeom prst="straightConnector1">
            <a:avLst/>
          </a:prstGeom>
          <a:noFill/>
          <a:ln w="19050" cap="flat" cmpd="sng">
            <a:solidFill>
              <a:schemeClr val="dk2"/>
            </a:solidFill>
            <a:prstDash val="solid"/>
            <a:round/>
            <a:headEnd type="none" w="sm" len="sm"/>
            <a:tailEnd type="none" w="sm" len="sm"/>
          </a:ln>
        </p:spPr>
      </p:cxnSp>
      <p:sp>
        <p:nvSpPr>
          <p:cNvPr id="29" name="Google Shape;29;gb76541bbe3_0_221"/>
          <p:cNvSpPr txBox="1">
            <a:spLocks noGrp="1"/>
          </p:cNvSpPr>
          <p:nvPr>
            <p:ph type="title"/>
          </p:nvPr>
        </p:nvSpPr>
        <p:spPr>
          <a:xfrm>
            <a:off x="2400250" y="767933"/>
            <a:ext cx="6321600" cy="8472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 name="Google Shape;30;gb76541bbe3_0_221"/>
          <p:cNvSpPr txBox="1">
            <a:spLocks noGrp="1"/>
          </p:cNvSpPr>
          <p:nvPr>
            <p:ph type="body" idx="1"/>
          </p:nvPr>
        </p:nvSpPr>
        <p:spPr>
          <a:xfrm>
            <a:off x="2410112" y="2127701"/>
            <a:ext cx="6321600" cy="40032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1" name="Google Shape;31;gb76541bbe3_0_221"/>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cxnSp>
        <p:nvCxnSpPr>
          <p:cNvPr id="33" name="Google Shape;33;gb76541bbe3_0_228"/>
          <p:cNvCxnSpPr/>
          <p:nvPr/>
        </p:nvCxnSpPr>
        <p:spPr>
          <a:xfrm>
            <a:off x="2477724" y="554200"/>
            <a:ext cx="6244200" cy="0"/>
          </a:xfrm>
          <a:prstGeom prst="straightConnector1">
            <a:avLst/>
          </a:prstGeom>
          <a:noFill/>
          <a:ln w="38100" cap="flat" cmpd="sng">
            <a:solidFill>
              <a:schemeClr val="dk2"/>
            </a:solidFill>
            <a:prstDash val="solid"/>
            <a:round/>
            <a:headEnd type="none" w="sm" len="sm"/>
            <a:tailEnd type="none" w="sm" len="sm"/>
          </a:ln>
        </p:spPr>
      </p:cxnSp>
      <p:cxnSp>
        <p:nvCxnSpPr>
          <p:cNvPr id="34" name="Google Shape;34;gb76541bbe3_0_228"/>
          <p:cNvCxnSpPr/>
          <p:nvPr/>
        </p:nvCxnSpPr>
        <p:spPr>
          <a:xfrm>
            <a:off x="2477724" y="632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5" name="Google Shape;35;gb76541bbe3_0_228"/>
          <p:cNvCxnSpPr/>
          <p:nvPr/>
        </p:nvCxnSpPr>
        <p:spPr>
          <a:xfrm>
            <a:off x="425198" y="554200"/>
            <a:ext cx="183300" cy="0"/>
          </a:xfrm>
          <a:prstGeom prst="straightConnector1">
            <a:avLst/>
          </a:prstGeom>
          <a:noFill/>
          <a:ln w="19050" cap="flat" cmpd="sng">
            <a:solidFill>
              <a:schemeClr val="dk2"/>
            </a:solidFill>
            <a:prstDash val="solid"/>
            <a:round/>
            <a:headEnd type="none" w="sm" len="sm"/>
            <a:tailEnd type="none" w="sm" len="sm"/>
          </a:ln>
        </p:spPr>
      </p:cxnSp>
      <p:sp>
        <p:nvSpPr>
          <p:cNvPr id="36" name="Google Shape;36;gb76541bbe3_0_228"/>
          <p:cNvSpPr txBox="1">
            <a:spLocks noGrp="1"/>
          </p:cNvSpPr>
          <p:nvPr>
            <p:ph type="title"/>
          </p:nvPr>
        </p:nvSpPr>
        <p:spPr>
          <a:xfrm>
            <a:off x="2400250" y="767933"/>
            <a:ext cx="6321600" cy="8472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 name="Google Shape;37;gb76541bbe3_0_228"/>
          <p:cNvSpPr txBox="1">
            <a:spLocks noGrp="1"/>
          </p:cNvSpPr>
          <p:nvPr>
            <p:ph type="body" idx="1"/>
          </p:nvPr>
        </p:nvSpPr>
        <p:spPr>
          <a:xfrm>
            <a:off x="2400303" y="2136900"/>
            <a:ext cx="3071400" cy="40032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gb76541bbe3_0_228"/>
          <p:cNvSpPr txBox="1">
            <a:spLocks noGrp="1"/>
          </p:cNvSpPr>
          <p:nvPr>
            <p:ph type="body" idx="2"/>
          </p:nvPr>
        </p:nvSpPr>
        <p:spPr>
          <a:xfrm>
            <a:off x="5650572" y="2136900"/>
            <a:ext cx="3071400" cy="40032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9" name="Google Shape;39;gb76541bbe3_0_228"/>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gb76541bbe3_0_236"/>
          <p:cNvSpPr txBox="1">
            <a:spLocks noGrp="1"/>
          </p:cNvSpPr>
          <p:nvPr>
            <p:ph type="title"/>
          </p:nvPr>
        </p:nvSpPr>
        <p:spPr>
          <a:xfrm>
            <a:off x="303300" y="548767"/>
            <a:ext cx="8520600" cy="8529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2" name="Google Shape;42;gb76541bbe3_0_236"/>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cxnSp>
        <p:nvCxnSpPr>
          <p:cNvPr id="44" name="Google Shape;44;gb76541bbe3_0_239"/>
          <p:cNvCxnSpPr/>
          <p:nvPr/>
        </p:nvCxnSpPr>
        <p:spPr>
          <a:xfrm>
            <a:off x="425198" y="554200"/>
            <a:ext cx="183300" cy="0"/>
          </a:xfrm>
          <a:prstGeom prst="straightConnector1">
            <a:avLst/>
          </a:prstGeom>
          <a:noFill/>
          <a:ln w="19050" cap="flat" cmpd="sng">
            <a:solidFill>
              <a:schemeClr val="dk2"/>
            </a:solidFill>
            <a:prstDash val="solid"/>
            <a:round/>
            <a:headEnd type="none" w="sm" len="sm"/>
            <a:tailEnd type="none" w="sm" len="sm"/>
          </a:ln>
        </p:spPr>
      </p:cxnSp>
      <p:sp>
        <p:nvSpPr>
          <p:cNvPr id="45" name="Google Shape;45;gb76541bbe3_0_239"/>
          <p:cNvSpPr txBox="1">
            <a:spLocks noGrp="1"/>
          </p:cNvSpPr>
          <p:nvPr>
            <p:ph type="title"/>
          </p:nvPr>
        </p:nvSpPr>
        <p:spPr>
          <a:xfrm>
            <a:off x="319500" y="1248800"/>
            <a:ext cx="2808000" cy="1007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6" name="Google Shape;46;gb76541bbe3_0_239"/>
          <p:cNvSpPr txBox="1">
            <a:spLocks noGrp="1"/>
          </p:cNvSpPr>
          <p:nvPr>
            <p:ph type="body" idx="1"/>
          </p:nvPr>
        </p:nvSpPr>
        <p:spPr>
          <a:xfrm>
            <a:off x="319500" y="2462405"/>
            <a:ext cx="2808000" cy="37416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47" name="Google Shape;47;gb76541bbe3_0_239"/>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8"/>
        <p:cNvGrpSpPr/>
        <p:nvPr/>
      </p:nvGrpSpPr>
      <p:grpSpPr>
        <a:xfrm>
          <a:off x="0" y="0"/>
          <a:ext cx="0" cy="0"/>
          <a:chOff x="0" y="0"/>
          <a:chExt cx="0" cy="0"/>
        </a:xfrm>
      </p:grpSpPr>
      <p:cxnSp>
        <p:nvCxnSpPr>
          <p:cNvPr id="49" name="Google Shape;49;gb76541bbe3_0_244"/>
          <p:cNvCxnSpPr/>
          <p:nvPr/>
        </p:nvCxnSpPr>
        <p:spPr>
          <a:xfrm>
            <a:off x="425198" y="554200"/>
            <a:ext cx="183300" cy="0"/>
          </a:xfrm>
          <a:prstGeom prst="straightConnector1">
            <a:avLst/>
          </a:prstGeom>
          <a:noFill/>
          <a:ln w="19050" cap="flat" cmpd="sng">
            <a:solidFill>
              <a:schemeClr val="lt1"/>
            </a:solidFill>
            <a:prstDash val="solid"/>
            <a:round/>
            <a:headEnd type="none" w="sm" len="sm"/>
            <a:tailEnd type="none" w="sm" len="sm"/>
          </a:ln>
        </p:spPr>
      </p:cxnSp>
      <p:sp>
        <p:nvSpPr>
          <p:cNvPr id="50" name="Google Shape;50;gb76541bbe3_0_244"/>
          <p:cNvSpPr txBox="1">
            <a:spLocks noGrp="1"/>
          </p:cNvSpPr>
          <p:nvPr>
            <p:ph type="title"/>
          </p:nvPr>
        </p:nvSpPr>
        <p:spPr>
          <a:xfrm>
            <a:off x="283103" y="949521"/>
            <a:ext cx="6244200" cy="51141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51" name="Google Shape;51;gb76541bbe3_0_244"/>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sp>
        <p:nvSpPr>
          <p:cNvPr id="53" name="Google Shape;53;gb76541bbe3_0_248"/>
          <p:cNvSpPr/>
          <p:nvPr/>
        </p:nvSpPr>
        <p:spPr>
          <a:xfrm>
            <a:off x="4572000" y="167"/>
            <a:ext cx="4572000" cy="6858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 name="Google Shape;54;gb76541bbe3_0_248"/>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55" name="Google Shape;55;gb76541bbe3_0_248"/>
          <p:cNvSpPr txBox="1">
            <a:spLocks noGrp="1"/>
          </p:cNvSpPr>
          <p:nvPr>
            <p:ph type="title"/>
          </p:nvPr>
        </p:nvSpPr>
        <p:spPr>
          <a:xfrm>
            <a:off x="265500" y="1863133"/>
            <a:ext cx="4045200" cy="17577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dk1"/>
              </a:buClr>
              <a:buSzPts val="3600"/>
              <a:buNone/>
              <a:defRPr sz="3600">
                <a:solidFill>
                  <a:schemeClr val="dk1"/>
                </a:solidFill>
              </a:defRPr>
            </a:lvl1pPr>
            <a:lvl2pPr lvl="1" algn="ctr" rtl="0">
              <a:spcBef>
                <a:spcPts val="0"/>
              </a:spcBef>
              <a:spcAft>
                <a:spcPts val="0"/>
              </a:spcAft>
              <a:buClr>
                <a:schemeClr val="dk1"/>
              </a:buClr>
              <a:buSzPts val="3600"/>
              <a:buNone/>
              <a:defRPr sz="3600">
                <a:solidFill>
                  <a:schemeClr val="dk1"/>
                </a:solidFill>
              </a:defRPr>
            </a:lvl2pPr>
            <a:lvl3pPr lvl="2" algn="ctr" rtl="0">
              <a:spcBef>
                <a:spcPts val="0"/>
              </a:spcBef>
              <a:spcAft>
                <a:spcPts val="0"/>
              </a:spcAft>
              <a:buClr>
                <a:schemeClr val="dk1"/>
              </a:buClr>
              <a:buSzPts val="3600"/>
              <a:buNone/>
              <a:defRPr sz="3600">
                <a:solidFill>
                  <a:schemeClr val="dk1"/>
                </a:solidFill>
              </a:defRPr>
            </a:lvl3pPr>
            <a:lvl4pPr lvl="3" algn="ctr" rtl="0">
              <a:spcBef>
                <a:spcPts val="0"/>
              </a:spcBef>
              <a:spcAft>
                <a:spcPts val="0"/>
              </a:spcAft>
              <a:buClr>
                <a:schemeClr val="dk1"/>
              </a:buClr>
              <a:buSzPts val="3600"/>
              <a:buNone/>
              <a:defRPr sz="3600">
                <a:solidFill>
                  <a:schemeClr val="dk1"/>
                </a:solidFill>
              </a:defRPr>
            </a:lvl4pPr>
            <a:lvl5pPr lvl="4" algn="ctr" rtl="0">
              <a:spcBef>
                <a:spcPts val="0"/>
              </a:spcBef>
              <a:spcAft>
                <a:spcPts val="0"/>
              </a:spcAft>
              <a:buClr>
                <a:schemeClr val="dk1"/>
              </a:buClr>
              <a:buSzPts val="3600"/>
              <a:buNone/>
              <a:defRPr sz="3600">
                <a:solidFill>
                  <a:schemeClr val="dk1"/>
                </a:solidFill>
              </a:defRPr>
            </a:lvl5pPr>
            <a:lvl6pPr lvl="5" algn="ctr" rtl="0">
              <a:spcBef>
                <a:spcPts val="0"/>
              </a:spcBef>
              <a:spcAft>
                <a:spcPts val="0"/>
              </a:spcAft>
              <a:buClr>
                <a:schemeClr val="dk1"/>
              </a:buClr>
              <a:buSzPts val="3600"/>
              <a:buNone/>
              <a:defRPr sz="3600">
                <a:solidFill>
                  <a:schemeClr val="dk1"/>
                </a:solidFill>
              </a:defRPr>
            </a:lvl6pPr>
            <a:lvl7pPr lvl="6" algn="ctr" rtl="0">
              <a:spcBef>
                <a:spcPts val="0"/>
              </a:spcBef>
              <a:spcAft>
                <a:spcPts val="0"/>
              </a:spcAft>
              <a:buClr>
                <a:schemeClr val="dk1"/>
              </a:buClr>
              <a:buSzPts val="3600"/>
              <a:buNone/>
              <a:defRPr sz="3600">
                <a:solidFill>
                  <a:schemeClr val="dk1"/>
                </a:solidFill>
              </a:defRPr>
            </a:lvl7pPr>
            <a:lvl8pPr lvl="7" algn="ctr" rtl="0">
              <a:spcBef>
                <a:spcPts val="0"/>
              </a:spcBef>
              <a:spcAft>
                <a:spcPts val="0"/>
              </a:spcAft>
              <a:buClr>
                <a:schemeClr val="dk1"/>
              </a:buClr>
              <a:buSzPts val="3600"/>
              <a:buNone/>
              <a:defRPr sz="3600">
                <a:solidFill>
                  <a:schemeClr val="dk1"/>
                </a:solidFill>
              </a:defRPr>
            </a:lvl8pPr>
            <a:lvl9pPr lvl="8" algn="ctr" rtl="0">
              <a:spcBef>
                <a:spcPts val="0"/>
              </a:spcBef>
              <a:spcAft>
                <a:spcPts val="0"/>
              </a:spcAft>
              <a:buClr>
                <a:schemeClr val="dk1"/>
              </a:buClr>
              <a:buSzPts val="3600"/>
              <a:buNone/>
              <a:defRPr sz="3600">
                <a:solidFill>
                  <a:schemeClr val="dk1"/>
                </a:solidFill>
              </a:defRPr>
            </a:lvl9pPr>
          </a:lstStyle>
          <a:p>
            <a:endParaRPr/>
          </a:p>
        </p:txBody>
      </p:sp>
      <p:sp>
        <p:nvSpPr>
          <p:cNvPr id="56" name="Google Shape;56;gb76541bbe3_0_248"/>
          <p:cNvSpPr txBox="1">
            <a:spLocks noGrp="1"/>
          </p:cNvSpPr>
          <p:nvPr>
            <p:ph type="subTitle" idx="1"/>
          </p:nvPr>
        </p:nvSpPr>
        <p:spPr>
          <a:xfrm>
            <a:off x="265500" y="3647161"/>
            <a:ext cx="4045200" cy="17940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7" name="Google Shape;57;gb76541bbe3_0_248"/>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58" name="Google Shape;58;gb76541bbe3_0_248"/>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9"/>
        <p:cNvGrpSpPr/>
        <p:nvPr/>
      </p:nvGrpSpPr>
      <p:grpSpPr>
        <a:xfrm>
          <a:off x="0" y="0"/>
          <a:ext cx="0" cy="0"/>
          <a:chOff x="0" y="0"/>
          <a:chExt cx="0" cy="0"/>
        </a:xfrm>
      </p:grpSpPr>
      <p:cxnSp>
        <p:nvCxnSpPr>
          <p:cNvPr id="60" name="Google Shape;60;gb76541bbe3_0_255"/>
          <p:cNvCxnSpPr/>
          <p:nvPr/>
        </p:nvCxnSpPr>
        <p:spPr>
          <a:xfrm>
            <a:off x="425200" y="632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1" name="Google Shape;61;gb76541bbe3_0_255"/>
          <p:cNvCxnSpPr/>
          <p:nvPr/>
        </p:nvCxnSpPr>
        <p:spPr>
          <a:xfrm>
            <a:off x="425198" y="554200"/>
            <a:ext cx="183300" cy="0"/>
          </a:xfrm>
          <a:prstGeom prst="straightConnector1">
            <a:avLst/>
          </a:prstGeom>
          <a:noFill/>
          <a:ln w="19050" cap="flat" cmpd="sng">
            <a:solidFill>
              <a:schemeClr val="dk2"/>
            </a:solidFill>
            <a:prstDash val="solid"/>
            <a:round/>
            <a:headEnd type="none" w="sm" len="sm"/>
            <a:tailEnd type="none" w="sm" len="sm"/>
          </a:ln>
        </p:spPr>
      </p:cxnSp>
      <p:sp>
        <p:nvSpPr>
          <p:cNvPr id="62" name="Google Shape;62;gb76541bbe3_0_255"/>
          <p:cNvSpPr txBox="1">
            <a:spLocks noGrp="1"/>
          </p:cNvSpPr>
          <p:nvPr>
            <p:ph type="body" idx="1"/>
          </p:nvPr>
        </p:nvSpPr>
        <p:spPr>
          <a:xfrm>
            <a:off x="328017" y="5634700"/>
            <a:ext cx="8388600" cy="5247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63" name="Google Shape;63;gb76541bbe3_0_255"/>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4"/>
        <p:cNvGrpSpPr/>
        <p:nvPr/>
      </p:nvGrpSpPr>
      <p:grpSpPr>
        <a:xfrm>
          <a:off x="0" y="0"/>
          <a:ext cx="0" cy="0"/>
          <a:chOff x="0" y="0"/>
          <a:chExt cx="0" cy="0"/>
        </a:xfrm>
      </p:grpSpPr>
      <p:cxnSp>
        <p:nvCxnSpPr>
          <p:cNvPr id="65" name="Google Shape;65;gb76541bbe3_0_260"/>
          <p:cNvCxnSpPr/>
          <p:nvPr/>
        </p:nvCxnSpPr>
        <p:spPr>
          <a:xfrm>
            <a:off x="425200" y="632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6" name="Google Shape;66;gb76541bbe3_0_260"/>
          <p:cNvCxnSpPr/>
          <p:nvPr/>
        </p:nvCxnSpPr>
        <p:spPr>
          <a:xfrm>
            <a:off x="425200" y="554200"/>
            <a:ext cx="8296800" cy="0"/>
          </a:xfrm>
          <a:prstGeom prst="straightConnector1">
            <a:avLst/>
          </a:prstGeom>
          <a:noFill/>
          <a:ln w="38100" cap="flat" cmpd="sng">
            <a:solidFill>
              <a:schemeClr val="dk2"/>
            </a:solidFill>
            <a:prstDash val="solid"/>
            <a:round/>
            <a:headEnd type="none" w="sm" len="sm"/>
            <a:tailEnd type="none" w="sm" len="sm"/>
          </a:ln>
        </p:spPr>
      </p:cxnSp>
      <p:sp>
        <p:nvSpPr>
          <p:cNvPr id="67" name="Google Shape;67;gb76541bbe3_0_260"/>
          <p:cNvSpPr txBox="1">
            <a:spLocks noGrp="1"/>
          </p:cNvSpPr>
          <p:nvPr>
            <p:ph type="title" hasCustomPrompt="1"/>
          </p:nvPr>
        </p:nvSpPr>
        <p:spPr>
          <a:xfrm>
            <a:off x="853950" y="1739800"/>
            <a:ext cx="7436100" cy="20511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rtl="0">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8" name="Google Shape;68;gb76541bbe3_0_260"/>
          <p:cNvSpPr txBox="1">
            <a:spLocks noGrp="1"/>
          </p:cNvSpPr>
          <p:nvPr>
            <p:ph type="body" idx="1"/>
          </p:nvPr>
        </p:nvSpPr>
        <p:spPr>
          <a:xfrm>
            <a:off x="853950" y="3892600"/>
            <a:ext cx="7436100" cy="14289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69" name="Google Shape;69;gb76541bbe3_0_260"/>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gb76541bbe3_0_266"/>
          <p:cNvSpPr txBox="1">
            <a:spLocks noGrp="1"/>
          </p:cNvSpPr>
          <p:nvPr>
            <p:ph type="sldNum" idx="12"/>
          </p:nvPr>
        </p:nvSpPr>
        <p:spPr>
          <a:xfrm>
            <a:off x="8497999" y="6251679"/>
            <a:ext cx="548700" cy="5247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pt-PT"/>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9"/>
        <p:cNvGrpSpPr/>
        <p:nvPr/>
      </p:nvGrpSpPr>
      <p:grpSpPr>
        <a:xfrm>
          <a:off x="0" y="0"/>
          <a:ext cx="0" cy="0"/>
          <a:chOff x="0" y="0"/>
          <a:chExt cx="0" cy="0"/>
        </a:xfrm>
      </p:grpSpPr>
      <p:sp>
        <p:nvSpPr>
          <p:cNvPr id="10" name="Google Shape;10;gb76541bbe3_0_205"/>
          <p:cNvSpPr txBox="1">
            <a:spLocks noGrp="1"/>
          </p:cNvSpPr>
          <p:nvPr>
            <p:ph type="title"/>
          </p:nvPr>
        </p:nvSpPr>
        <p:spPr>
          <a:xfrm>
            <a:off x="2400250" y="767933"/>
            <a:ext cx="6321600" cy="8472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11" name="Google Shape;11;gb76541bbe3_0_205"/>
          <p:cNvSpPr txBox="1">
            <a:spLocks noGrp="1"/>
          </p:cNvSpPr>
          <p:nvPr>
            <p:ph type="body" idx="1"/>
          </p:nvPr>
        </p:nvSpPr>
        <p:spPr>
          <a:xfrm>
            <a:off x="2410112" y="2127701"/>
            <a:ext cx="6321600" cy="40032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rtl="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12" name="Google Shape;12;gb76541bbe3_0_205"/>
          <p:cNvSpPr txBox="1">
            <a:spLocks noGrp="1"/>
          </p:cNvSpPr>
          <p:nvPr>
            <p:ph type="sldNum" idx="12"/>
          </p:nvPr>
        </p:nvSpPr>
        <p:spPr>
          <a:xfrm>
            <a:off x="8497999" y="6251679"/>
            <a:ext cx="548700" cy="5247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latin typeface="Lato"/>
                <a:ea typeface="Lato"/>
                <a:cs typeface="Lato"/>
                <a:sym typeface="Lato"/>
              </a:defRPr>
            </a:lvl1pPr>
            <a:lvl2pPr lvl="1" algn="r" rtl="0">
              <a:buNone/>
              <a:defRPr sz="1000">
                <a:solidFill>
                  <a:schemeClr val="dk2"/>
                </a:solidFill>
                <a:latin typeface="Lato"/>
                <a:ea typeface="Lato"/>
                <a:cs typeface="Lato"/>
                <a:sym typeface="Lato"/>
              </a:defRPr>
            </a:lvl2pPr>
            <a:lvl3pPr lvl="2" algn="r" rtl="0">
              <a:buNone/>
              <a:defRPr sz="1000">
                <a:solidFill>
                  <a:schemeClr val="dk2"/>
                </a:solidFill>
                <a:latin typeface="Lato"/>
                <a:ea typeface="Lato"/>
                <a:cs typeface="Lato"/>
                <a:sym typeface="Lato"/>
              </a:defRPr>
            </a:lvl3pPr>
            <a:lvl4pPr lvl="3" algn="r" rtl="0">
              <a:buNone/>
              <a:defRPr sz="1000">
                <a:solidFill>
                  <a:schemeClr val="dk2"/>
                </a:solidFill>
                <a:latin typeface="Lato"/>
                <a:ea typeface="Lato"/>
                <a:cs typeface="Lato"/>
                <a:sym typeface="Lato"/>
              </a:defRPr>
            </a:lvl4pPr>
            <a:lvl5pPr lvl="4" algn="r" rtl="0">
              <a:buNone/>
              <a:defRPr sz="1000">
                <a:solidFill>
                  <a:schemeClr val="dk2"/>
                </a:solidFill>
                <a:latin typeface="Lato"/>
                <a:ea typeface="Lato"/>
                <a:cs typeface="Lato"/>
                <a:sym typeface="Lato"/>
              </a:defRPr>
            </a:lvl5pPr>
            <a:lvl6pPr lvl="5" algn="r" rtl="0">
              <a:buNone/>
              <a:defRPr sz="1000">
                <a:solidFill>
                  <a:schemeClr val="dk2"/>
                </a:solidFill>
                <a:latin typeface="Lato"/>
                <a:ea typeface="Lato"/>
                <a:cs typeface="Lato"/>
                <a:sym typeface="Lato"/>
              </a:defRPr>
            </a:lvl6pPr>
            <a:lvl7pPr lvl="6" algn="r" rtl="0">
              <a:buNone/>
              <a:defRPr sz="1000">
                <a:solidFill>
                  <a:schemeClr val="dk2"/>
                </a:solidFill>
                <a:latin typeface="Lato"/>
                <a:ea typeface="Lato"/>
                <a:cs typeface="Lato"/>
                <a:sym typeface="Lato"/>
              </a:defRPr>
            </a:lvl7pPr>
            <a:lvl8pPr lvl="7" algn="r" rtl="0">
              <a:buNone/>
              <a:defRPr sz="1000">
                <a:solidFill>
                  <a:schemeClr val="dk2"/>
                </a:solidFill>
                <a:latin typeface="Lato"/>
                <a:ea typeface="Lato"/>
                <a:cs typeface="Lato"/>
                <a:sym typeface="Lato"/>
              </a:defRPr>
            </a:lvl8pPr>
            <a:lvl9pPr lvl="8" algn="r" rtl="0">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pt-PT"/>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D9EEB"/>
        </a:solidFill>
        <a:effectLst/>
      </p:bgPr>
    </p:bg>
    <p:spTree>
      <p:nvGrpSpPr>
        <p:cNvPr id="1" name="Shape 75"/>
        <p:cNvGrpSpPr/>
        <p:nvPr/>
      </p:nvGrpSpPr>
      <p:grpSpPr>
        <a:xfrm>
          <a:off x="0" y="0"/>
          <a:ext cx="0" cy="0"/>
          <a:chOff x="0" y="0"/>
          <a:chExt cx="0" cy="0"/>
        </a:xfrm>
      </p:grpSpPr>
      <p:sp>
        <p:nvSpPr>
          <p:cNvPr id="76" name="Google Shape;76;gb76541bbe3_0_199"/>
          <p:cNvSpPr txBox="1">
            <a:spLocks noGrp="1"/>
          </p:cNvSpPr>
          <p:nvPr>
            <p:ph type="ctrTitle"/>
          </p:nvPr>
        </p:nvSpPr>
        <p:spPr>
          <a:xfrm>
            <a:off x="2371725" y="840300"/>
            <a:ext cx="6331500" cy="2055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PT"/>
              <a:t>Projecto NNTO</a:t>
            </a:r>
            <a:endParaRPr/>
          </a:p>
        </p:txBody>
      </p:sp>
      <p:sp>
        <p:nvSpPr>
          <p:cNvPr id="77" name="Google Shape;77;gb76541bbe3_0_199"/>
          <p:cNvSpPr txBox="1">
            <a:spLocks noGrp="1"/>
          </p:cNvSpPr>
          <p:nvPr>
            <p:ph type="subTitle" idx="1"/>
          </p:nvPr>
        </p:nvSpPr>
        <p:spPr>
          <a:xfrm>
            <a:off x="2390267" y="4471908"/>
            <a:ext cx="6331500" cy="1655700"/>
          </a:xfrm>
          <a:prstGeom prst="rect">
            <a:avLst/>
          </a:prstGeom>
        </p:spPr>
        <p:txBody>
          <a:bodyPr spcFirstLastPara="1" wrap="square" lIns="91425" tIns="91425" rIns="91425" bIns="91425" anchor="b" anchorCtr="0">
            <a:normAutofit lnSpcReduction="10000"/>
          </a:bodyPr>
          <a:lstStyle/>
          <a:p>
            <a:pPr marL="0" lvl="0" indent="0" algn="l" rtl="0">
              <a:lnSpc>
                <a:spcPct val="115000"/>
              </a:lnSpc>
              <a:spcBef>
                <a:spcPts val="0"/>
              </a:spcBef>
              <a:spcAft>
                <a:spcPts val="0"/>
              </a:spcAft>
              <a:buNone/>
            </a:pPr>
            <a:r>
              <a:rPr lang="pt-PT" sz="1300">
                <a:latin typeface="Lato Light"/>
                <a:ea typeface="Lato Light"/>
                <a:cs typeface="Lato Light"/>
                <a:sym typeface="Lato Light"/>
              </a:rPr>
              <a:t>Bruno Carlos Luís Ferreira, uc2015240050@student.uc.pt</a:t>
            </a:r>
            <a:endParaRPr sz="1600">
              <a:latin typeface="Lato Light"/>
              <a:ea typeface="Lato Light"/>
              <a:cs typeface="Lato Light"/>
              <a:sym typeface="Lato Light"/>
            </a:endParaRPr>
          </a:p>
          <a:p>
            <a:pPr marL="0" lvl="0" indent="0" algn="l" rtl="0">
              <a:lnSpc>
                <a:spcPct val="115000"/>
              </a:lnSpc>
              <a:spcBef>
                <a:spcPts val="0"/>
              </a:spcBef>
              <a:spcAft>
                <a:spcPts val="0"/>
              </a:spcAft>
              <a:buNone/>
            </a:pPr>
            <a:r>
              <a:rPr lang="pt-PT" sz="1300">
                <a:latin typeface="Lato Light"/>
                <a:ea typeface="Lato Light"/>
                <a:cs typeface="Lato Light"/>
                <a:sym typeface="Lato Light"/>
              </a:rPr>
              <a:t>Carlos João Lopes Mendes, cjmendes@student.dei.uc.pt</a:t>
            </a:r>
            <a:endParaRPr sz="1600">
              <a:latin typeface="Lato Light"/>
              <a:ea typeface="Lato Light"/>
              <a:cs typeface="Lato Light"/>
              <a:sym typeface="Lato Light"/>
            </a:endParaRPr>
          </a:p>
          <a:p>
            <a:pPr marL="0" lvl="0" indent="0" algn="l" rtl="0">
              <a:lnSpc>
                <a:spcPct val="115000"/>
              </a:lnSpc>
              <a:spcBef>
                <a:spcPts val="0"/>
              </a:spcBef>
              <a:spcAft>
                <a:spcPts val="0"/>
              </a:spcAft>
              <a:buNone/>
            </a:pPr>
            <a:r>
              <a:rPr lang="pt-PT" sz="1300">
                <a:latin typeface="Lato Light"/>
                <a:ea typeface="Lato Light"/>
                <a:cs typeface="Lato Light"/>
                <a:sym typeface="Lato Light"/>
              </a:rPr>
              <a:t>Domicio Araujo Pereira Neto, dneto@student.dei.uc.pt</a:t>
            </a:r>
            <a:endParaRPr sz="1600">
              <a:latin typeface="Lato Light"/>
              <a:ea typeface="Lato Light"/>
              <a:cs typeface="Lato Light"/>
              <a:sym typeface="Lato Light"/>
            </a:endParaRPr>
          </a:p>
          <a:p>
            <a:pPr marL="0" lvl="0" indent="0" algn="l" rtl="0">
              <a:lnSpc>
                <a:spcPct val="115000"/>
              </a:lnSpc>
              <a:spcBef>
                <a:spcPts val="0"/>
              </a:spcBef>
              <a:spcAft>
                <a:spcPts val="0"/>
              </a:spcAft>
              <a:buNone/>
            </a:pPr>
            <a:r>
              <a:rPr lang="pt-PT" sz="1300">
                <a:latin typeface="Lato Light"/>
                <a:ea typeface="Lato Light"/>
                <a:cs typeface="Lato Light"/>
                <a:sym typeface="Lato Light"/>
              </a:rPr>
              <a:t>Filipe Miguel Fonseca dos Santos, fmsantos@student.dei.uc.pt</a:t>
            </a:r>
            <a:endParaRPr sz="1600">
              <a:latin typeface="Lato Light"/>
              <a:ea typeface="Lato Light"/>
              <a:cs typeface="Lato Light"/>
              <a:sym typeface="Lato Light"/>
            </a:endParaRPr>
          </a:p>
          <a:p>
            <a:pPr marL="0" lvl="0" indent="0" algn="l" rtl="0">
              <a:lnSpc>
                <a:spcPct val="115000"/>
              </a:lnSpc>
              <a:spcBef>
                <a:spcPts val="0"/>
              </a:spcBef>
              <a:spcAft>
                <a:spcPts val="0"/>
              </a:spcAft>
              <a:buNone/>
            </a:pPr>
            <a:r>
              <a:rPr lang="pt-PT" sz="1300">
                <a:latin typeface="Lato Light"/>
                <a:ea typeface="Lato Light"/>
                <a:cs typeface="Lato Light"/>
                <a:sym typeface="Lato Light"/>
              </a:rPr>
              <a:t>Maria de Nolasco Santos, uc2020175200@student.uc.pt</a:t>
            </a:r>
            <a:endParaRPr sz="1600">
              <a:latin typeface="Lato Light"/>
              <a:ea typeface="Lato Light"/>
              <a:cs typeface="Lato Light"/>
              <a:sym typeface="Lato Light"/>
            </a:endParaRPr>
          </a:p>
          <a:p>
            <a:pPr marL="0" lvl="0" indent="0" algn="l" rtl="0">
              <a:lnSpc>
                <a:spcPct val="115000"/>
              </a:lnSpc>
              <a:spcBef>
                <a:spcPts val="0"/>
              </a:spcBef>
              <a:spcAft>
                <a:spcPts val="0"/>
              </a:spcAft>
              <a:buNone/>
            </a:pPr>
            <a:r>
              <a:rPr lang="pt-PT" sz="1300">
                <a:latin typeface="Lato Light"/>
                <a:ea typeface="Lato Light"/>
                <a:cs typeface="Lato Light"/>
                <a:sym typeface="Lato Light"/>
              </a:rPr>
              <a:t>Sérgio Manuel Carvas Machado, smachado@student.dei.uc.pt</a:t>
            </a:r>
            <a:endParaRPr sz="1600">
              <a:latin typeface="Lato Light"/>
              <a:ea typeface="Lato Light"/>
              <a:cs typeface="Lato Light"/>
              <a:sym typeface="Lato Light"/>
            </a:endParaRPr>
          </a:p>
          <a:p>
            <a:pPr marL="0" lvl="0" indent="0" algn="l" rtl="0">
              <a:lnSpc>
                <a:spcPct val="115000"/>
              </a:lnSpc>
              <a:spcBef>
                <a:spcPts val="0"/>
              </a:spcBef>
              <a:spcAft>
                <a:spcPts val="0"/>
              </a:spcAft>
              <a:buNone/>
            </a:pPr>
            <a:r>
              <a:rPr lang="pt-PT" sz="1300">
                <a:latin typeface="Lato Light"/>
                <a:ea typeface="Lato Light"/>
                <a:cs typeface="Lato Light"/>
                <a:sym typeface="Lato Light"/>
              </a:rPr>
              <a:t>Vitalina Holubenko, vitalina@student.dei.uc.pt</a:t>
            </a:r>
            <a:endParaRPr sz="2000">
              <a:latin typeface="Lato Light"/>
              <a:ea typeface="Lato Light"/>
              <a:cs typeface="Lato Light"/>
              <a:sym typeface="Lato Light"/>
            </a:endParaRPr>
          </a:p>
        </p:txBody>
      </p:sp>
      <p:sp>
        <p:nvSpPr>
          <p:cNvPr id="78" name="Google Shape;78;gb76541bbe3_0_199"/>
          <p:cNvSpPr txBox="1">
            <a:spLocks noGrp="1"/>
          </p:cNvSpPr>
          <p:nvPr>
            <p:ph type="subTitle" idx="1"/>
          </p:nvPr>
        </p:nvSpPr>
        <p:spPr>
          <a:xfrm>
            <a:off x="2390267" y="1997150"/>
            <a:ext cx="6331500" cy="1655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PT"/>
              <a:t>Interação Humano-Computador</a:t>
            </a:r>
            <a:endParaRPr/>
          </a:p>
          <a:p>
            <a:pPr marL="0" lvl="0" indent="0" algn="l" rtl="0">
              <a:spcBef>
                <a:spcPts val="0"/>
              </a:spcBef>
              <a:spcAft>
                <a:spcPts val="0"/>
              </a:spcAft>
              <a:buNone/>
            </a:pPr>
            <a:endParaRPr/>
          </a:p>
          <a:p>
            <a:pPr marL="0" lvl="0" indent="0" algn="l" rtl="0">
              <a:spcBef>
                <a:spcPts val="0"/>
              </a:spcBef>
              <a:spcAft>
                <a:spcPts val="0"/>
              </a:spcAft>
              <a:buNone/>
            </a:pPr>
            <a:r>
              <a:rPr lang="pt-PT" sz="1400"/>
              <a:t>Janeiro 2021</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gb76541bbe3_0_296"/>
          <p:cNvSpPr txBox="1">
            <a:spLocks noGrp="1"/>
          </p:cNvSpPr>
          <p:nvPr>
            <p:ph type="title" idx="4294967295"/>
          </p:nvPr>
        </p:nvSpPr>
        <p:spPr>
          <a:xfrm>
            <a:off x="2611850" y="416053"/>
            <a:ext cx="6321600" cy="524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PT">
                <a:solidFill>
                  <a:srgbClr val="A4C2F4"/>
                </a:solidFill>
              </a:rPr>
              <a:t>O Início</a:t>
            </a:r>
            <a:endParaRPr>
              <a:solidFill>
                <a:srgbClr val="A4C2F4"/>
              </a:solidFill>
            </a:endParaRPr>
          </a:p>
        </p:txBody>
      </p:sp>
      <p:cxnSp>
        <p:nvCxnSpPr>
          <p:cNvPr id="85" name="Google Shape;85;gb76541bbe3_0_296"/>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86" name="Google Shape;86;gb76541bbe3_0_296"/>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87" name="Google Shape;87;gb76541bbe3_0_296"/>
          <p:cNvSpPr txBox="1"/>
          <p:nvPr/>
        </p:nvSpPr>
        <p:spPr>
          <a:xfrm>
            <a:off x="906250" y="1340925"/>
            <a:ext cx="1368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sz="1500">
                <a:solidFill>
                  <a:srgbClr val="434343"/>
                </a:solidFill>
                <a:latin typeface="Lato"/>
                <a:ea typeface="Lato"/>
                <a:cs typeface="Lato"/>
                <a:sym typeface="Lato"/>
              </a:rPr>
              <a:t>“Engage us”</a:t>
            </a:r>
            <a:endParaRPr sz="1500">
              <a:solidFill>
                <a:srgbClr val="434343"/>
              </a:solidFill>
              <a:latin typeface="Lato"/>
              <a:ea typeface="Lato"/>
              <a:cs typeface="Lato"/>
              <a:sym typeface="Lato"/>
            </a:endParaRPr>
          </a:p>
        </p:txBody>
      </p:sp>
      <p:sp>
        <p:nvSpPr>
          <p:cNvPr id="88" name="Google Shape;88;gb76541bbe3_0_296"/>
          <p:cNvSpPr txBox="1"/>
          <p:nvPr/>
        </p:nvSpPr>
        <p:spPr>
          <a:xfrm>
            <a:off x="5093150" y="1340925"/>
            <a:ext cx="36837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sz="1500">
                <a:solidFill>
                  <a:srgbClr val="434343"/>
                </a:solidFill>
                <a:latin typeface="Lato"/>
                <a:ea typeface="Lato"/>
                <a:cs typeface="Lato"/>
                <a:sym typeface="Lato"/>
              </a:rPr>
              <a:t>“Ensaio de um game design minimalista”</a:t>
            </a:r>
            <a:endParaRPr sz="1500">
              <a:solidFill>
                <a:srgbClr val="434343"/>
              </a:solidFill>
              <a:latin typeface="Lato"/>
              <a:ea typeface="Lato"/>
              <a:cs typeface="Lato"/>
              <a:sym typeface="Lato"/>
            </a:endParaRPr>
          </a:p>
        </p:txBody>
      </p:sp>
      <p:sp>
        <p:nvSpPr>
          <p:cNvPr id="89" name="Google Shape;89;gb76541bbe3_0_296"/>
          <p:cNvSpPr txBox="1"/>
          <p:nvPr/>
        </p:nvSpPr>
        <p:spPr>
          <a:xfrm>
            <a:off x="4770900" y="2037066"/>
            <a:ext cx="1303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Cooperação</a:t>
            </a:r>
            <a:endParaRPr>
              <a:solidFill>
                <a:srgbClr val="434343"/>
              </a:solidFill>
              <a:latin typeface="Lato"/>
              <a:ea typeface="Lato"/>
              <a:cs typeface="Lato"/>
              <a:sym typeface="Lato"/>
            </a:endParaRPr>
          </a:p>
        </p:txBody>
      </p:sp>
      <p:sp>
        <p:nvSpPr>
          <p:cNvPr id="90" name="Google Shape;90;gb76541bbe3_0_296"/>
          <p:cNvSpPr txBox="1"/>
          <p:nvPr/>
        </p:nvSpPr>
        <p:spPr>
          <a:xfrm>
            <a:off x="1625607" y="2037079"/>
            <a:ext cx="1308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Competição</a:t>
            </a:r>
            <a:endParaRPr>
              <a:solidFill>
                <a:srgbClr val="434343"/>
              </a:solidFill>
              <a:latin typeface="Lato"/>
              <a:ea typeface="Lato"/>
              <a:cs typeface="Lato"/>
              <a:sym typeface="Lato"/>
            </a:endParaRPr>
          </a:p>
        </p:txBody>
      </p:sp>
      <p:sp>
        <p:nvSpPr>
          <p:cNvPr id="91" name="Google Shape;91;gb76541bbe3_0_296"/>
          <p:cNvSpPr txBox="1"/>
          <p:nvPr/>
        </p:nvSpPr>
        <p:spPr>
          <a:xfrm>
            <a:off x="700975" y="4957063"/>
            <a:ext cx="243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Localização: Supermercado</a:t>
            </a:r>
            <a:endParaRPr>
              <a:solidFill>
                <a:srgbClr val="434343"/>
              </a:solidFill>
              <a:latin typeface="Lato"/>
              <a:ea typeface="Lato"/>
              <a:cs typeface="Lato"/>
              <a:sym typeface="Lato"/>
            </a:endParaRPr>
          </a:p>
        </p:txBody>
      </p:sp>
      <p:sp>
        <p:nvSpPr>
          <p:cNvPr id="92" name="Google Shape;92;gb76541bbe3_0_296"/>
          <p:cNvSpPr txBox="1"/>
          <p:nvPr/>
        </p:nvSpPr>
        <p:spPr>
          <a:xfrm>
            <a:off x="1557850" y="3910875"/>
            <a:ext cx="4584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“Quem conseguirá obter mais rolos de papel higiénico!?”</a:t>
            </a:r>
            <a:endParaRPr>
              <a:solidFill>
                <a:srgbClr val="434343"/>
              </a:solidFill>
              <a:latin typeface="Lato"/>
              <a:ea typeface="Lato"/>
              <a:cs typeface="Lato"/>
              <a:sym typeface="Lato"/>
            </a:endParaRPr>
          </a:p>
        </p:txBody>
      </p:sp>
      <p:sp>
        <p:nvSpPr>
          <p:cNvPr id="93" name="Google Shape;93;gb76541bbe3_0_296"/>
          <p:cNvSpPr txBox="1"/>
          <p:nvPr/>
        </p:nvSpPr>
        <p:spPr>
          <a:xfrm>
            <a:off x="4733000" y="4957073"/>
            <a:ext cx="2079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Contexto: Pandemia</a:t>
            </a:r>
            <a:endParaRPr>
              <a:solidFill>
                <a:srgbClr val="434343"/>
              </a:solidFill>
              <a:latin typeface="Lato"/>
              <a:ea typeface="Lato"/>
              <a:cs typeface="Lato"/>
              <a:sym typeface="Lato"/>
            </a:endParaRPr>
          </a:p>
        </p:txBody>
      </p:sp>
      <p:sp>
        <p:nvSpPr>
          <p:cNvPr id="94" name="Google Shape;94;gb76541bbe3_0_296"/>
          <p:cNvSpPr txBox="1"/>
          <p:nvPr/>
        </p:nvSpPr>
        <p:spPr>
          <a:xfrm>
            <a:off x="1753601" y="3120700"/>
            <a:ext cx="41925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Procura insaciável e competitiva por papel higiénico</a:t>
            </a:r>
            <a:endParaRPr>
              <a:solidFill>
                <a:srgbClr val="434343"/>
              </a:solidFill>
              <a:latin typeface="Lato"/>
              <a:ea typeface="Lato"/>
              <a:cs typeface="Lato"/>
              <a:sym typeface="Lato"/>
            </a:endParaRPr>
          </a:p>
        </p:txBody>
      </p:sp>
      <p:sp>
        <p:nvSpPr>
          <p:cNvPr id="95" name="Google Shape;95;gb76541bbe3_0_296"/>
          <p:cNvSpPr txBox="1"/>
          <p:nvPr/>
        </p:nvSpPr>
        <p:spPr>
          <a:xfrm>
            <a:off x="2995900" y="5784713"/>
            <a:ext cx="171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a:solidFill>
                  <a:srgbClr val="434343"/>
                </a:solidFill>
                <a:latin typeface="Lato"/>
                <a:ea typeface="Lato"/>
                <a:cs typeface="Lato"/>
                <a:sym typeface="Lato"/>
              </a:rPr>
              <a:t>Perda da sanidade</a:t>
            </a:r>
            <a:endParaRPr>
              <a:solidFill>
                <a:srgbClr val="434343"/>
              </a:solidFill>
              <a:latin typeface="Lato"/>
              <a:ea typeface="Lato"/>
              <a:cs typeface="Lato"/>
              <a:sym typeface="Lato"/>
            </a:endParaRPr>
          </a:p>
        </p:txBody>
      </p:sp>
      <p:cxnSp>
        <p:nvCxnSpPr>
          <p:cNvPr id="96" name="Google Shape;96;gb76541bbe3_0_296"/>
          <p:cNvCxnSpPr>
            <a:stCxn id="87" idx="3"/>
            <a:endCxn id="88" idx="1"/>
          </p:cNvCxnSpPr>
          <p:nvPr/>
        </p:nvCxnSpPr>
        <p:spPr>
          <a:xfrm>
            <a:off x="2274250" y="1548675"/>
            <a:ext cx="2818800" cy="0"/>
          </a:xfrm>
          <a:prstGeom prst="straightConnector1">
            <a:avLst/>
          </a:prstGeom>
          <a:noFill/>
          <a:ln w="19050" cap="flat" cmpd="sng">
            <a:solidFill>
              <a:srgbClr val="6D9EEB"/>
            </a:solidFill>
            <a:prstDash val="dot"/>
            <a:round/>
            <a:headEnd type="none" w="med" len="med"/>
            <a:tailEnd type="none" w="med" len="med"/>
          </a:ln>
        </p:spPr>
      </p:cxnSp>
      <p:cxnSp>
        <p:nvCxnSpPr>
          <p:cNvPr id="97" name="Google Shape;97;gb76541bbe3_0_296"/>
          <p:cNvCxnSpPr>
            <a:stCxn id="90" idx="3"/>
            <a:endCxn id="89" idx="1"/>
          </p:cNvCxnSpPr>
          <p:nvPr/>
        </p:nvCxnSpPr>
        <p:spPr>
          <a:xfrm>
            <a:off x="2933907" y="2221729"/>
            <a:ext cx="1836900" cy="0"/>
          </a:xfrm>
          <a:prstGeom prst="straightConnector1">
            <a:avLst/>
          </a:prstGeom>
          <a:noFill/>
          <a:ln w="19050" cap="flat" cmpd="sng">
            <a:solidFill>
              <a:srgbClr val="6D9EEB"/>
            </a:solidFill>
            <a:prstDash val="solid"/>
            <a:round/>
            <a:headEnd type="stealth" w="med" len="med"/>
            <a:tailEnd type="stealth" w="med" len="med"/>
          </a:ln>
        </p:spPr>
      </p:cxnSp>
      <p:cxnSp>
        <p:nvCxnSpPr>
          <p:cNvPr id="98" name="Google Shape;98;gb76541bbe3_0_296"/>
          <p:cNvCxnSpPr>
            <a:endCxn id="94" idx="0"/>
          </p:cNvCxnSpPr>
          <p:nvPr/>
        </p:nvCxnSpPr>
        <p:spPr>
          <a:xfrm>
            <a:off x="3837851" y="2229100"/>
            <a:ext cx="12000" cy="891600"/>
          </a:xfrm>
          <a:prstGeom prst="straightConnector1">
            <a:avLst/>
          </a:prstGeom>
          <a:noFill/>
          <a:ln w="19050" cap="flat" cmpd="sng">
            <a:solidFill>
              <a:srgbClr val="6D9EEB"/>
            </a:solidFill>
            <a:prstDash val="dash"/>
            <a:round/>
            <a:headEnd type="none" w="med" len="med"/>
            <a:tailEnd type="none" w="med" len="med"/>
          </a:ln>
        </p:spPr>
      </p:cxnSp>
      <p:cxnSp>
        <p:nvCxnSpPr>
          <p:cNvPr id="99" name="Google Shape;99;gb76541bbe3_0_296"/>
          <p:cNvCxnSpPr>
            <a:stCxn id="94" idx="2"/>
            <a:endCxn id="92" idx="0"/>
          </p:cNvCxnSpPr>
          <p:nvPr/>
        </p:nvCxnSpPr>
        <p:spPr>
          <a:xfrm>
            <a:off x="3849851" y="3490000"/>
            <a:ext cx="0" cy="420900"/>
          </a:xfrm>
          <a:prstGeom prst="straightConnector1">
            <a:avLst/>
          </a:prstGeom>
          <a:noFill/>
          <a:ln w="19050" cap="flat" cmpd="sng">
            <a:solidFill>
              <a:srgbClr val="6D9EEB"/>
            </a:solidFill>
            <a:prstDash val="dash"/>
            <a:round/>
            <a:headEnd type="none" w="med" len="med"/>
            <a:tailEnd type="none" w="med" len="med"/>
          </a:ln>
        </p:spPr>
      </p:cxnSp>
      <p:cxnSp>
        <p:nvCxnSpPr>
          <p:cNvPr id="100" name="Google Shape;100;gb76541bbe3_0_296"/>
          <p:cNvCxnSpPr>
            <a:stCxn id="91" idx="3"/>
            <a:endCxn id="93" idx="1"/>
          </p:cNvCxnSpPr>
          <p:nvPr/>
        </p:nvCxnSpPr>
        <p:spPr>
          <a:xfrm>
            <a:off x="3132175" y="5141713"/>
            <a:ext cx="1600800" cy="0"/>
          </a:xfrm>
          <a:prstGeom prst="straightConnector1">
            <a:avLst/>
          </a:prstGeom>
          <a:noFill/>
          <a:ln w="19050" cap="flat" cmpd="sng">
            <a:solidFill>
              <a:srgbClr val="6D9EEB"/>
            </a:solidFill>
            <a:prstDash val="solid"/>
            <a:round/>
            <a:headEnd type="none" w="med" len="med"/>
            <a:tailEnd type="none" w="med" len="med"/>
          </a:ln>
        </p:spPr>
      </p:cxnSp>
      <p:cxnSp>
        <p:nvCxnSpPr>
          <p:cNvPr id="101" name="Google Shape;101;gb76541bbe3_0_296"/>
          <p:cNvCxnSpPr>
            <a:stCxn id="92" idx="2"/>
          </p:cNvCxnSpPr>
          <p:nvPr/>
        </p:nvCxnSpPr>
        <p:spPr>
          <a:xfrm>
            <a:off x="3849850" y="4280175"/>
            <a:ext cx="11400" cy="862500"/>
          </a:xfrm>
          <a:prstGeom prst="straightConnector1">
            <a:avLst/>
          </a:prstGeom>
          <a:noFill/>
          <a:ln w="19050" cap="flat" cmpd="sng">
            <a:solidFill>
              <a:srgbClr val="6D9EEB"/>
            </a:solidFill>
            <a:prstDash val="dash"/>
            <a:round/>
            <a:headEnd type="none" w="med" len="med"/>
            <a:tailEnd type="none" w="med" len="med"/>
          </a:ln>
        </p:spPr>
      </p:cxnSp>
      <p:cxnSp>
        <p:nvCxnSpPr>
          <p:cNvPr id="102" name="Google Shape;102;gb76541bbe3_0_296"/>
          <p:cNvCxnSpPr>
            <a:endCxn id="95" idx="0"/>
          </p:cNvCxnSpPr>
          <p:nvPr/>
        </p:nvCxnSpPr>
        <p:spPr>
          <a:xfrm>
            <a:off x="3849550" y="5166413"/>
            <a:ext cx="6000" cy="618300"/>
          </a:xfrm>
          <a:prstGeom prst="straightConnector1">
            <a:avLst/>
          </a:prstGeom>
          <a:noFill/>
          <a:ln w="19050" cap="flat" cmpd="sng">
            <a:solidFill>
              <a:srgbClr val="6D9EEB"/>
            </a:solidFill>
            <a:prstDash val="solid"/>
            <a:round/>
            <a:headEnd type="none" w="med" len="med"/>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b76541bbe3_0_328"/>
          <p:cNvSpPr txBox="1">
            <a:spLocks noGrp="1"/>
          </p:cNvSpPr>
          <p:nvPr>
            <p:ph type="title" idx="4294967295"/>
          </p:nvPr>
        </p:nvSpPr>
        <p:spPr>
          <a:xfrm>
            <a:off x="2611850" y="416053"/>
            <a:ext cx="6321600" cy="524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PT">
                <a:solidFill>
                  <a:srgbClr val="A4C2F4"/>
                </a:solidFill>
              </a:rPr>
              <a:t>Conhecimento a Priori</a:t>
            </a:r>
            <a:endParaRPr>
              <a:solidFill>
                <a:srgbClr val="A4C2F4"/>
              </a:solidFill>
            </a:endParaRPr>
          </a:p>
        </p:txBody>
      </p:sp>
      <p:cxnSp>
        <p:nvCxnSpPr>
          <p:cNvPr id="109" name="Google Shape;109;gb76541bbe3_0_328"/>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10" name="Google Shape;110;gb76541bbe3_0_328"/>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11" name="Google Shape;111;gb76541bbe3_0_328"/>
          <p:cNvSpPr txBox="1"/>
          <p:nvPr/>
        </p:nvSpPr>
        <p:spPr>
          <a:xfrm>
            <a:off x="2747950" y="2306488"/>
            <a:ext cx="259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sz="1800">
                <a:solidFill>
                  <a:srgbClr val="434343"/>
                </a:solidFill>
                <a:latin typeface="Lato"/>
                <a:ea typeface="Lato"/>
                <a:cs typeface="Lato"/>
                <a:sym typeface="Lato"/>
              </a:rPr>
              <a:t>Jogos 2D dos anos 90</a:t>
            </a:r>
            <a:endParaRPr sz="1800">
              <a:solidFill>
                <a:srgbClr val="434343"/>
              </a:solidFill>
              <a:latin typeface="Lato"/>
              <a:ea typeface="Lato"/>
              <a:cs typeface="Lato"/>
              <a:sym typeface="Lato"/>
            </a:endParaRPr>
          </a:p>
        </p:txBody>
      </p:sp>
      <p:pic>
        <p:nvPicPr>
          <p:cNvPr id="112" name="Google Shape;112;gb76541bbe3_0_328"/>
          <p:cNvPicPr preferRelativeResize="0"/>
          <p:nvPr/>
        </p:nvPicPr>
        <p:blipFill rotWithShape="1">
          <a:blip r:embed="rId3">
            <a:alphaModFix/>
          </a:blip>
          <a:srcRect/>
          <a:stretch/>
        </p:blipFill>
        <p:spPr>
          <a:xfrm>
            <a:off x="6006928" y="1664990"/>
            <a:ext cx="1192998" cy="1744700"/>
          </a:xfrm>
          <a:prstGeom prst="rect">
            <a:avLst/>
          </a:prstGeom>
          <a:noFill/>
          <a:ln>
            <a:noFill/>
          </a:ln>
        </p:spPr>
      </p:pic>
      <p:pic>
        <p:nvPicPr>
          <p:cNvPr id="113" name="Google Shape;113;gb76541bbe3_0_328"/>
          <p:cNvPicPr preferRelativeResize="0"/>
          <p:nvPr/>
        </p:nvPicPr>
        <p:blipFill rotWithShape="1">
          <a:blip r:embed="rId4">
            <a:alphaModFix/>
          </a:blip>
          <a:srcRect/>
          <a:stretch/>
        </p:blipFill>
        <p:spPr>
          <a:xfrm>
            <a:off x="2747944" y="4597435"/>
            <a:ext cx="5242279" cy="10151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b76541bbe3_0_354"/>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Definição do problema de interação</a:t>
            </a:r>
            <a:endParaRPr sz="2700">
              <a:solidFill>
                <a:srgbClr val="C9DAF8"/>
              </a:solidFill>
            </a:endParaRPr>
          </a:p>
        </p:txBody>
      </p:sp>
      <p:cxnSp>
        <p:nvCxnSpPr>
          <p:cNvPr id="120" name="Google Shape;120;gb76541bbe3_0_354"/>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21" name="Google Shape;121;gb76541bbe3_0_354"/>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22" name="Google Shape;122;gb76541bbe3_0_354"/>
          <p:cNvSpPr txBox="1"/>
          <p:nvPr/>
        </p:nvSpPr>
        <p:spPr>
          <a:xfrm>
            <a:off x="2651600" y="1347088"/>
            <a:ext cx="259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sz="1800">
                <a:solidFill>
                  <a:srgbClr val="434343"/>
                </a:solidFill>
                <a:latin typeface="Lato"/>
                <a:ea typeface="Lato"/>
                <a:cs typeface="Lato"/>
                <a:sym typeface="Lato"/>
              </a:rPr>
              <a:t>Público alvo</a:t>
            </a:r>
            <a:endParaRPr sz="1800">
              <a:solidFill>
                <a:srgbClr val="434343"/>
              </a:solidFill>
              <a:latin typeface="Lato"/>
              <a:ea typeface="Lato"/>
              <a:cs typeface="Lato"/>
              <a:sym typeface="Lato"/>
            </a:endParaRPr>
          </a:p>
        </p:txBody>
      </p:sp>
      <p:sp>
        <p:nvSpPr>
          <p:cNvPr id="123" name="Google Shape;123;gb76541bbe3_0_354"/>
          <p:cNvSpPr/>
          <p:nvPr/>
        </p:nvSpPr>
        <p:spPr>
          <a:xfrm>
            <a:off x="2651600" y="2139550"/>
            <a:ext cx="2311200" cy="6324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Interesse em jogos</a:t>
            </a:r>
            <a:endParaRPr>
              <a:solidFill>
                <a:srgbClr val="434343"/>
              </a:solidFill>
              <a:latin typeface="Lato"/>
              <a:ea typeface="Lato"/>
              <a:cs typeface="Lato"/>
              <a:sym typeface="Lato"/>
            </a:endParaRPr>
          </a:p>
        </p:txBody>
      </p:sp>
      <p:sp>
        <p:nvSpPr>
          <p:cNvPr id="124" name="Google Shape;124;gb76541bbe3_0_354"/>
          <p:cNvSpPr/>
          <p:nvPr/>
        </p:nvSpPr>
        <p:spPr>
          <a:xfrm>
            <a:off x="2651600" y="2797100"/>
            <a:ext cx="1518900" cy="369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10-40 anos</a:t>
            </a:r>
            <a:endParaRPr>
              <a:solidFill>
                <a:srgbClr val="434343"/>
              </a:solidFill>
              <a:latin typeface="Lato"/>
              <a:ea typeface="Lato"/>
              <a:cs typeface="Lato"/>
              <a:sym typeface="Lato"/>
            </a:endParaRPr>
          </a:p>
        </p:txBody>
      </p:sp>
      <p:sp>
        <p:nvSpPr>
          <p:cNvPr id="125" name="Google Shape;125;gb76541bbe3_0_354"/>
          <p:cNvSpPr/>
          <p:nvPr/>
        </p:nvSpPr>
        <p:spPr>
          <a:xfrm>
            <a:off x="5411050" y="2139550"/>
            <a:ext cx="2183400" cy="369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Apreciam jogos</a:t>
            </a:r>
            <a:endParaRPr>
              <a:solidFill>
                <a:srgbClr val="434343"/>
              </a:solidFill>
              <a:latin typeface="Lato"/>
              <a:ea typeface="Lato"/>
              <a:cs typeface="Lato"/>
              <a:sym typeface="Lato"/>
            </a:endParaRPr>
          </a:p>
        </p:txBody>
      </p:sp>
      <p:sp>
        <p:nvSpPr>
          <p:cNvPr id="126" name="Google Shape;126;gb76541bbe3_0_354"/>
          <p:cNvSpPr/>
          <p:nvPr/>
        </p:nvSpPr>
        <p:spPr>
          <a:xfrm>
            <a:off x="2651600" y="4061650"/>
            <a:ext cx="1824000" cy="369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Competitivos</a:t>
            </a:r>
            <a:endParaRPr>
              <a:solidFill>
                <a:srgbClr val="434343"/>
              </a:solidFill>
              <a:latin typeface="Lato"/>
              <a:ea typeface="Lato"/>
              <a:cs typeface="Lato"/>
              <a:sym typeface="Lato"/>
            </a:endParaRPr>
          </a:p>
        </p:txBody>
      </p:sp>
      <p:sp>
        <p:nvSpPr>
          <p:cNvPr id="127" name="Google Shape;127;gb76541bbe3_0_354"/>
          <p:cNvSpPr/>
          <p:nvPr/>
        </p:nvSpPr>
        <p:spPr>
          <a:xfrm>
            <a:off x="2651600" y="3429375"/>
            <a:ext cx="1676700" cy="369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Cooperar</a:t>
            </a:r>
            <a:endParaRPr>
              <a:solidFill>
                <a:srgbClr val="434343"/>
              </a:solidFill>
              <a:latin typeface="Lato"/>
              <a:ea typeface="Lato"/>
              <a:cs typeface="Lato"/>
              <a:sym typeface="Lato"/>
            </a:endParaRPr>
          </a:p>
        </p:txBody>
      </p:sp>
      <p:sp>
        <p:nvSpPr>
          <p:cNvPr id="128" name="Google Shape;128;gb76541bbe3_0_354"/>
          <p:cNvSpPr/>
          <p:nvPr/>
        </p:nvSpPr>
        <p:spPr>
          <a:xfrm>
            <a:off x="5411051" y="2797100"/>
            <a:ext cx="1944000" cy="369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Jogos rápidos</a:t>
            </a:r>
            <a:endParaRPr>
              <a:solidFill>
                <a:srgbClr val="434343"/>
              </a:solidFill>
              <a:latin typeface="Lato"/>
              <a:ea typeface="Lato"/>
              <a:cs typeface="Lato"/>
              <a:sym typeface="Lato"/>
            </a:endParaRPr>
          </a:p>
        </p:txBody>
      </p:sp>
      <p:sp>
        <p:nvSpPr>
          <p:cNvPr id="129" name="Google Shape;129;gb76541bbe3_0_354"/>
          <p:cNvSpPr/>
          <p:nvPr/>
        </p:nvSpPr>
        <p:spPr>
          <a:xfrm>
            <a:off x="5411050" y="3426575"/>
            <a:ext cx="2703900" cy="369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Simplicidade</a:t>
            </a:r>
            <a:endParaRPr>
              <a:solidFill>
                <a:srgbClr val="434343"/>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b76541bbe3_0_371"/>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Definição do problema de interação</a:t>
            </a:r>
            <a:endParaRPr sz="2700">
              <a:solidFill>
                <a:srgbClr val="C9DAF8"/>
              </a:solidFill>
            </a:endParaRPr>
          </a:p>
        </p:txBody>
      </p:sp>
      <p:cxnSp>
        <p:nvCxnSpPr>
          <p:cNvPr id="136" name="Google Shape;136;gb76541bbe3_0_371"/>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37" name="Google Shape;137;gb76541bbe3_0_371"/>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38" name="Google Shape;138;gb76541bbe3_0_371"/>
          <p:cNvSpPr txBox="1"/>
          <p:nvPr/>
        </p:nvSpPr>
        <p:spPr>
          <a:xfrm>
            <a:off x="2651600" y="1347088"/>
            <a:ext cx="259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sz="1800">
                <a:solidFill>
                  <a:srgbClr val="434343"/>
                </a:solidFill>
                <a:latin typeface="Lato"/>
                <a:ea typeface="Lato"/>
                <a:cs typeface="Lato"/>
                <a:sym typeface="Lato"/>
              </a:rPr>
              <a:t>Perfis</a:t>
            </a:r>
            <a:endParaRPr sz="1800">
              <a:solidFill>
                <a:srgbClr val="434343"/>
              </a:solidFill>
              <a:latin typeface="Lato"/>
              <a:ea typeface="Lato"/>
              <a:cs typeface="Lato"/>
              <a:sym typeface="Lato"/>
            </a:endParaRPr>
          </a:p>
        </p:txBody>
      </p:sp>
      <p:sp>
        <p:nvSpPr>
          <p:cNvPr id="139" name="Google Shape;139;gb76541bbe3_0_371"/>
          <p:cNvSpPr/>
          <p:nvPr/>
        </p:nvSpPr>
        <p:spPr>
          <a:xfrm>
            <a:off x="792375" y="2370900"/>
            <a:ext cx="6703500" cy="741900"/>
          </a:xfrm>
          <a:prstGeom prst="rect">
            <a:avLst/>
          </a:prstGeom>
          <a:solidFill>
            <a:schemeClr val="lt1"/>
          </a:solidFill>
          <a:ln w="2540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Crianças entre os 10 e 14 anos, que procuram jogos com mecânicas mais simples, para conseguirem mais facilmente compreender e participar na experiência de jogo</a:t>
            </a:r>
            <a:endParaRPr>
              <a:solidFill>
                <a:srgbClr val="434343"/>
              </a:solidFill>
              <a:latin typeface="Lato"/>
              <a:ea typeface="Lato"/>
              <a:cs typeface="Lato"/>
              <a:sym typeface="Lato"/>
            </a:endParaRPr>
          </a:p>
        </p:txBody>
      </p:sp>
      <p:sp>
        <p:nvSpPr>
          <p:cNvPr id="140" name="Google Shape;140;gb76541bbe3_0_371"/>
          <p:cNvSpPr/>
          <p:nvPr/>
        </p:nvSpPr>
        <p:spPr>
          <a:xfrm>
            <a:off x="780150" y="4369099"/>
            <a:ext cx="6715800" cy="741900"/>
          </a:xfrm>
          <a:prstGeom prst="rect">
            <a:avLst/>
          </a:prstGeom>
          <a:solidFill>
            <a:schemeClr val="lt1"/>
          </a:solidFill>
          <a:ln w="2540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Estudantes universitários entre os 18 e 25 anos, que devido ao tempo livre mais reduzido de que dispõem, estarão dispostos a experimentar um jogo curto.</a:t>
            </a:r>
            <a:endParaRPr>
              <a:solidFill>
                <a:srgbClr val="434343"/>
              </a:solidFill>
              <a:latin typeface="Lato"/>
              <a:ea typeface="Lato"/>
              <a:cs typeface="Lato"/>
              <a:sym typeface="Lato"/>
            </a:endParaRPr>
          </a:p>
        </p:txBody>
      </p:sp>
      <p:sp>
        <p:nvSpPr>
          <p:cNvPr id="141" name="Google Shape;141;gb76541bbe3_0_371"/>
          <p:cNvSpPr/>
          <p:nvPr/>
        </p:nvSpPr>
        <p:spPr>
          <a:xfrm>
            <a:off x="792375" y="3376324"/>
            <a:ext cx="6703500" cy="741900"/>
          </a:xfrm>
          <a:prstGeom prst="rect">
            <a:avLst/>
          </a:prstGeom>
          <a:solidFill>
            <a:schemeClr val="lt1"/>
          </a:solidFill>
          <a:ln w="2540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pt-PT">
                <a:solidFill>
                  <a:srgbClr val="434343"/>
                </a:solidFill>
                <a:latin typeface="Lato"/>
                <a:ea typeface="Lato"/>
                <a:cs typeface="Lato"/>
                <a:sym typeface="Lato"/>
              </a:rPr>
              <a:t>Adolescentes entre os 15 e 18 anos, que já têm mais experiência com aplicações, pelo que apreciam jogos que não se estendem com explicações demasiado longas </a:t>
            </a:r>
            <a:endParaRPr>
              <a:solidFill>
                <a:srgbClr val="434343"/>
              </a:solidFill>
              <a:latin typeface="Lato"/>
              <a:ea typeface="Lato"/>
              <a:cs typeface="Lato"/>
              <a:sym typeface="Lato"/>
            </a:endParaRPr>
          </a:p>
        </p:txBody>
      </p:sp>
      <p:sp>
        <p:nvSpPr>
          <p:cNvPr id="142" name="Google Shape;142;gb76541bbe3_0_371"/>
          <p:cNvSpPr/>
          <p:nvPr/>
        </p:nvSpPr>
        <p:spPr>
          <a:xfrm>
            <a:off x="7869499" y="3562625"/>
            <a:ext cx="10638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600" b="1">
                <a:solidFill>
                  <a:srgbClr val="434343"/>
                </a:solidFill>
                <a:latin typeface="Lato"/>
                <a:ea typeface="Lato"/>
                <a:cs typeface="Lato"/>
                <a:sym typeface="Lato"/>
              </a:rPr>
              <a:t>Personas</a:t>
            </a:r>
            <a:endParaRPr sz="1600" b="1">
              <a:solidFill>
                <a:srgbClr val="434343"/>
              </a:solidFill>
              <a:latin typeface="Lato"/>
              <a:ea typeface="Lato"/>
              <a:cs typeface="Lato"/>
              <a:sym typeface="Lato"/>
            </a:endParaRPr>
          </a:p>
        </p:txBody>
      </p:sp>
      <p:cxnSp>
        <p:nvCxnSpPr>
          <p:cNvPr id="143" name="Google Shape;143;gb76541bbe3_0_371"/>
          <p:cNvCxnSpPr>
            <a:stCxn id="139" idx="3"/>
            <a:endCxn id="140" idx="3"/>
          </p:cNvCxnSpPr>
          <p:nvPr/>
        </p:nvCxnSpPr>
        <p:spPr>
          <a:xfrm>
            <a:off x="7495875" y="2741850"/>
            <a:ext cx="600" cy="1998300"/>
          </a:xfrm>
          <a:prstGeom prst="bentConnector3">
            <a:avLst>
              <a:gd name="adj1" fmla="val 39700000"/>
            </a:avLst>
          </a:prstGeom>
          <a:noFill/>
          <a:ln w="38100" cap="flat" cmpd="sng">
            <a:solidFill>
              <a:srgbClr val="6D9EEB"/>
            </a:solidFill>
            <a:prstDash val="dot"/>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b76541bbe3_0_395"/>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Definição do problema de interação</a:t>
            </a:r>
            <a:endParaRPr sz="2700">
              <a:solidFill>
                <a:srgbClr val="C9DAF8"/>
              </a:solidFill>
            </a:endParaRPr>
          </a:p>
        </p:txBody>
      </p:sp>
      <p:cxnSp>
        <p:nvCxnSpPr>
          <p:cNvPr id="150" name="Google Shape;150;gb76541bbe3_0_395"/>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51" name="Google Shape;151;gb76541bbe3_0_395"/>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52" name="Google Shape;152;gb76541bbe3_0_395"/>
          <p:cNvSpPr txBox="1"/>
          <p:nvPr/>
        </p:nvSpPr>
        <p:spPr>
          <a:xfrm>
            <a:off x="2651600" y="1347300"/>
            <a:ext cx="6242100" cy="222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Cenários de uso</a:t>
            </a:r>
            <a:endParaRPr sz="1800">
              <a:solidFill>
                <a:srgbClr val="434343"/>
              </a:solidFill>
              <a:latin typeface="Lato"/>
              <a:ea typeface="Lato"/>
              <a:cs typeface="Lato"/>
              <a:sym typeface="Lato"/>
            </a:endParaRPr>
          </a:p>
          <a:p>
            <a:pPr marL="0" lvl="0" indent="0" algn="l" rtl="0">
              <a:spcBef>
                <a:spcPts val="0"/>
              </a:spcBef>
              <a:spcAft>
                <a:spcPts val="0"/>
              </a:spcAft>
              <a:buNone/>
            </a:pPr>
            <a:endParaRPr sz="1800">
              <a:solidFill>
                <a:srgbClr val="434343"/>
              </a:solidFill>
              <a:latin typeface="Lato"/>
              <a:ea typeface="Lato"/>
              <a:cs typeface="Lato"/>
              <a:sym typeface="Lato"/>
            </a:endParaRPr>
          </a:p>
          <a:p>
            <a:pPr marL="457200" lvl="0" indent="-323850" algn="l" rtl="0">
              <a:spcBef>
                <a:spcPts val="0"/>
              </a:spcBef>
              <a:spcAft>
                <a:spcPts val="0"/>
              </a:spcAft>
              <a:buClr>
                <a:srgbClr val="434343"/>
              </a:buClr>
              <a:buSzPts val="1500"/>
              <a:buFont typeface="Lato"/>
              <a:buAutoNum type="arabicPeriod"/>
            </a:pPr>
            <a:r>
              <a:rPr lang="pt-PT" sz="1500">
                <a:solidFill>
                  <a:srgbClr val="434343"/>
                </a:solidFill>
                <a:latin typeface="Lato"/>
                <a:ea typeface="Lato"/>
                <a:cs typeface="Lato"/>
                <a:sym typeface="Lato"/>
              </a:rPr>
              <a:t>1 estudante de 12 anos e 3 colegas estão no intervalo a espera do início da próxima aula. Têm 30 minutos antes de começar e procuram algum jogo que possam fazer em conjunto. Como não tem muito tempo, tem de ser um jogo que não só tenha partidas razoavelmente rápidas, como também seja simples de entender, para cativar os 3 colegas que podem não conhecer o jogo.</a:t>
            </a:r>
            <a:endParaRPr sz="1500">
              <a:solidFill>
                <a:srgbClr val="434343"/>
              </a:solidFill>
              <a:latin typeface="Lato"/>
              <a:ea typeface="Lato"/>
              <a:cs typeface="Lato"/>
              <a:sym typeface="Lato"/>
            </a:endParaRPr>
          </a:p>
        </p:txBody>
      </p:sp>
      <p:sp>
        <p:nvSpPr>
          <p:cNvPr id="153" name="Google Shape;153;gb76541bbe3_0_395"/>
          <p:cNvSpPr/>
          <p:nvPr/>
        </p:nvSpPr>
        <p:spPr>
          <a:xfrm>
            <a:off x="6109701" y="3898548"/>
            <a:ext cx="14463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pt-PT" sz="1600">
                <a:solidFill>
                  <a:srgbClr val="434343"/>
                </a:solidFill>
                <a:latin typeface="Lato"/>
                <a:ea typeface="Lato"/>
                <a:cs typeface="Lato"/>
                <a:sym typeface="Lato"/>
              </a:rPr>
              <a:t>Jogos rápidos</a:t>
            </a:r>
            <a:endParaRPr sz="1600">
              <a:solidFill>
                <a:srgbClr val="434343"/>
              </a:solidFill>
              <a:latin typeface="Lato"/>
              <a:ea typeface="Lato"/>
              <a:cs typeface="Lato"/>
              <a:sym typeface="Lato"/>
            </a:endParaRPr>
          </a:p>
        </p:txBody>
      </p:sp>
      <p:sp>
        <p:nvSpPr>
          <p:cNvPr id="154" name="Google Shape;154;gb76541bbe3_0_395"/>
          <p:cNvSpPr/>
          <p:nvPr/>
        </p:nvSpPr>
        <p:spPr>
          <a:xfrm>
            <a:off x="3989298" y="3898559"/>
            <a:ext cx="13758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pt-PT" sz="1600">
                <a:solidFill>
                  <a:srgbClr val="434343"/>
                </a:solidFill>
                <a:latin typeface="Lato"/>
                <a:ea typeface="Lato"/>
                <a:cs typeface="Lato"/>
                <a:sym typeface="Lato"/>
              </a:rPr>
              <a:t>Simplicidade</a:t>
            </a:r>
            <a:endParaRPr sz="1600">
              <a:solidFill>
                <a:srgbClr val="434343"/>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b76541bbe3_0_410"/>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Definição do problema de interação</a:t>
            </a:r>
            <a:endParaRPr sz="2700">
              <a:solidFill>
                <a:srgbClr val="C9DAF8"/>
              </a:solidFill>
            </a:endParaRPr>
          </a:p>
        </p:txBody>
      </p:sp>
      <p:cxnSp>
        <p:nvCxnSpPr>
          <p:cNvPr id="161" name="Google Shape;161;gb76541bbe3_0_410"/>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62" name="Google Shape;162;gb76541bbe3_0_410"/>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63" name="Google Shape;163;gb76541bbe3_0_410"/>
          <p:cNvSpPr txBox="1"/>
          <p:nvPr/>
        </p:nvSpPr>
        <p:spPr>
          <a:xfrm>
            <a:off x="2651600" y="1347300"/>
            <a:ext cx="6242100" cy="222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Cenários de uso</a:t>
            </a:r>
            <a:endParaRPr sz="1800">
              <a:solidFill>
                <a:srgbClr val="434343"/>
              </a:solidFill>
              <a:latin typeface="Lato"/>
              <a:ea typeface="Lato"/>
              <a:cs typeface="Lato"/>
              <a:sym typeface="Lato"/>
            </a:endParaRPr>
          </a:p>
          <a:p>
            <a:pPr marL="457200" lvl="0" indent="0" algn="l" rtl="0">
              <a:spcBef>
                <a:spcPts val="0"/>
              </a:spcBef>
              <a:spcAft>
                <a:spcPts val="0"/>
              </a:spcAft>
              <a:buNone/>
            </a:pPr>
            <a:endParaRPr sz="1500">
              <a:solidFill>
                <a:srgbClr val="434343"/>
              </a:solidFill>
              <a:latin typeface="Lato"/>
              <a:ea typeface="Lato"/>
              <a:cs typeface="Lato"/>
              <a:sym typeface="Lato"/>
            </a:endParaRPr>
          </a:p>
          <a:p>
            <a:pPr marL="457200" lvl="0" indent="-323850" algn="l" rtl="0">
              <a:spcBef>
                <a:spcPts val="0"/>
              </a:spcBef>
              <a:spcAft>
                <a:spcPts val="0"/>
              </a:spcAft>
              <a:buClr>
                <a:srgbClr val="FFFFFF"/>
              </a:buClr>
              <a:buSzPts val="1500"/>
              <a:buFont typeface="Lato"/>
              <a:buAutoNum type="arabicPeriod"/>
            </a:pPr>
            <a:r>
              <a:rPr lang="pt-PT" sz="1500">
                <a:solidFill>
                  <a:srgbClr val="FFFFFF"/>
                </a:solidFill>
                <a:latin typeface="Lato"/>
                <a:ea typeface="Lato"/>
                <a:cs typeface="Lato"/>
                <a:sym typeface="Lato"/>
              </a:rPr>
              <a:t>d</a:t>
            </a:r>
            <a:endParaRPr sz="1500">
              <a:solidFill>
                <a:srgbClr val="FFFFFF"/>
              </a:solidFill>
              <a:latin typeface="Lato"/>
              <a:ea typeface="Lato"/>
              <a:cs typeface="Lato"/>
              <a:sym typeface="Lato"/>
            </a:endParaRPr>
          </a:p>
          <a:p>
            <a:pPr marL="457200" lvl="0" indent="-304800" algn="l" rtl="0">
              <a:spcBef>
                <a:spcPts val="0"/>
              </a:spcBef>
              <a:spcAft>
                <a:spcPts val="0"/>
              </a:spcAft>
              <a:buClr>
                <a:srgbClr val="434343"/>
              </a:buClr>
              <a:buSzPts val="1200"/>
              <a:buFont typeface="Lato"/>
              <a:buAutoNum type="arabicPeriod"/>
            </a:pPr>
            <a:r>
              <a:rPr lang="pt-PT" sz="1500">
                <a:solidFill>
                  <a:srgbClr val="434343"/>
                </a:solidFill>
                <a:latin typeface="Lato"/>
                <a:ea typeface="Lato"/>
                <a:cs typeface="Lato"/>
                <a:sym typeface="Lato"/>
              </a:rPr>
              <a:t>2 adolescentes a espera do comboio. Estes querem fazer algo em conjunto que as faça passar o tempo. Estão habituadas a jogar, pelo que procuram um jogo partilhado, onde tenham de trabalhar em conjunto para chegar a um resultado. Como estão sentadas na sala de espera, não têm grandes constrangimentos em termos de iluminação que perturbe o ecrã.</a:t>
            </a:r>
            <a:endParaRPr sz="1500">
              <a:solidFill>
                <a:srgbClr val="434343"/>
              </a:solidFill>
              <a:latin typeface="Lato"/>
              <a:ea typeface="Lato"/>
              <a:cs typeface="Lato"/>
              <a:sym typeface="Lato"/>
            </a:endParaRPr>
          </a:p>
          <a:p>
            <a:pPr marL="0" lvl="0" indent="0" algn="l" rtl="0">
              <a:spcBef>
                <a:spcPts val="0"/>
              </a:spcBef>
              <a:spcAft>
                <a:spcPts val="0"/>
              </a:spcAft>
              <a:buNone/>
            </a:pPr>
            <a:endParaRPr sz="1500">
              <a:solidFill>
                <a:srgbClr val="434343"/>
              </a:solidFill>
              <a:latin typeface="Lato"/>
              <a:ea typeface="Lato"/>
              <a:cs typeface="Lato"/>
              <a:sym typeface="Lato"/>
            </a:endParaRPr>
          </a:p>
        </p:txBody>
      </p:sp>
      <p:sp>
        <p:nvSpPr>
          <p:cNvPr id="164" name="Google Shape;164;gb76541bbe3_0_410"/>
          <p:cNvSpPr/>
          <p:nvPr/>
        </p:nvSpPr>
        <p:spPr>
          <a:xfrm>
            <a:off x="6109701" y="3898548"/>
            <a:ext cx="14463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pt-PT" sz="1600">
                <a:solidFill>
                  <a:srgbClr val="434343"/>
                </a:solidFill>
                <a:latin typeface="Lato"/>
                <a:ea typeface="Lato"/>
                <a:cs typeface="Lato"/>
                <a:sym typeface="Lato"/>
              </a:rPr>
              <a:t>Jogos rápidos</a:t>
            </a:r>
            <a:endParaRPr sz="1600">
              <a:solidFill>
                <a:srgbClr val="434343"/>
              </a:solidFill>
              <a:latin typeface="Lato"/>
              <a:ea typeface="Lato"/>
              <a:cs typeface="Lato"/>
              <a:sym typeface="Lato"/>
            </a:endParaRPr>
          </a:p>
        </p:txBody>
      </p:sp>
      <p:sp>
        <p:nvSpPr>
          <p:cNvPr id="165" name="Google Shape;165;gb76541bbe3_0_410"/>
          <p:cNvSpPr/>
          <p:nvPr/>
        </p:nvSpPr>
        <p:spPr>
          <a:xfrm>
            <a:off x="3989298" y="3898559"/>
            <a:ext cx="13758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pt-PT" sz="1600">
                <a:solidFill>
                  <a:srgbClr val="434343"/>
                </a:solidFill>
                <a:latin typeface="Lato"/>
                <a:ea typeface="Lato"/>
                <a:cs typeface="Lato"/>
                <a:sym typeface="Lato"/>
              </a:rPr>
              <a:t>Cooperar</a:t>
            </a:r>
            <a:endParaRPr sz="1600">
              <a:solidFill>
                <a:srgbClr val="434343"/>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b76541bbe3_0_420"/>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Definição do problema de interação</a:t>
            </a:r>
            <a:endParaRPr sz="2700">
              <a:solidFill>
                <a:srgbClr val="C9DAF8"/>
              </a:solidFill>
            </a:endParaRPr>
          </a:p>
        </p:txBody>
      </p:sp>
      <p:cxnSp>
        <p:nvCxnSpPr>
          <p:cNvPr id="172" name="Google Shape;172;gb76541bbe3_0_420"/>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73" name="Google Shape;173;gb76541bbe3_0_420"/>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74" name="Google Shape;174;gb76541bbe3_0_420"/>
          <p:cNvSpPr txBox="1"/>
          <p:nvPr/>
        </p:nvSpPr>
        <p:spPr>
          <a:xfrm>
            <a:off x="2651600" y="1347300"/>
            <a:ext cx="6242100" cy="222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Cenários de uso</a:t>
            </a:r>
            <a:endParaRPr sz="1800">
              <a:solidFill>
                <a:srgbClr val="434343"/>
              </a:solidFill>
              <a:latin typeface="Lato"/>
              <a:ea typeface="Lato"/>
              <a:cs typeface="Lato"/>
              <a:sym typeface="Lato"/>
            </a:endParaRPr>
          </a:p>
          <a:p>
            <a:pPr marL="457200" lvl="0" indent="0" algn="l" rtl="0">
              <a:spcBef>
                <a:spcPts val="0"/>
              </a:spcBef>
              <a:spcAft>
                <a:spcPts val="0"/>
              </a:spcAft>
              <a:buNone/>
            </a:pPr>
            <a:endParaRPr sz="1500">
              <a:solidFill>
                <a:srgbClr val="434343"/>
              </a:solidFill>
              <a:latin typeface="Lato"/>
              <a:ea typeface="Lato"/>
              <a:cs typeface="Lato"/>
              <a:sym typeface="Lato"/>
            </a:endParaRPr>
          </a:p>
          <a:p>
            <a:pPr marL="457200" lvl="0" indent="-323850" algn="l" rtl="0">
              <a:spcBef>
                <a:spcPts val="0"/>
              </a:spcBef>
              <a:spcAft>
                <a:spcPts val="0"/>
              </a:spcAft>
              <a:buClr>
                <a:srgbClr val="FFFFFF"/>
              </a:buClr>
              <a:buSzPts val="1500"/>
              <a:buFont typeface="Lato"/>
              <a:buAutoNum type="arabicPeriod"/>
            </a:pPr>
            <a:r>
              <a:rPr lang="pt-PT" sz="1500">
                <a:solidFill>
                  <a:srgbClr val="FFFFFF"/>
                </a:solidFill>
                <a:latin typeface="Lato"/>
                <a:ea typeface="Lato"/>
                <a:cs typeface="Lato"/>
                <a:sym typeface="Lato"/>
              </a:rPr>
              <a:t>3d</a:t>
            </a:r>
            <a:endParaRPr sz="1500">
              <a:solidFill>
                <a:srgbClr val="FFFFFF"/>
              </a:solidFill>
              <a:latin typeface="Lato"/>
              <a:ea typeface="Lato"/>
              <a:cs typeface="Lato"/>
              <a:sym typeface="Lato"/>
            </a:endParaRPr>
          </a:p>
          <a:p>
            <a:pPr marL="457200" lvl="0" indent="-323850" algn="l" rtl="0">
              <a:spcBef>
                <a:spcPts val="0"/>
              </a:spcBef>
              <a:spcAft>
                <a:spcPts val="0"/>
              </a:spcAft>
              <a:buClr>
                <a:srgbClr val="FFFFFF"/>
              </a:buClr>
              <a:buSzPts val="1500"/>
              <a:buFont typeface="Lato"/>
              <a:buAutoNum type="arabicPeriod"/>
            </a:pPr>
            <a:r>
              <a:rPr lang="pt-PT" sz="1500">
                <a:solidFill>
                  <a:srgbClr val="FFFFFF"/>
                </a:solidFill>
                <a:latin typeface="Lato"/>
                <a:ea typeface="Lato"/>
                <a:cs typeface="Lato"/>
                <a:sym typeface="Lato"/>
              </a:rPr>
              <a:t>3</a:t>
            </a:r>
            <a:endParaRPr sz="1500">
              <a:solidFill>
                <a:srgbClr val="FFFFFF"/>
              </a:solidFill>
              <a:latin typeface="Lato"/>
              <a:ea typeface="Lato"/>
              <a:cs typeface="Lato"/>
              <a:sym typeface="Lato"/>
            </a:endParaRPr>
          </a:p>
          <a:p>
            <a:pPr marL="457200" lvl="0" indent="-304800" algn="l" rtl="0">
              <a:spcBef>
                <a:spcPts val="0"/>
              </a:spcBef>
              <a:spcAft>
                <a:spcPts val="0"/>
              </a:spcAft>
              <a:buClr>
                <a:srgbClr val="434343"/>
              </a:buClr>
              <a:buSzPts val="1200"/>
              <a:buFont typeface="Lato"/>
              <a:buAutoNum type="arabicPeriod"/>
            </a:pPr>
            <a:r>
              <a:rPr lang="pt-PT" sz="1500">
                <a:solidFill>
                  <a:srgbClr val="434343"/>
                </a:solidFill>
                <a:latin typeface="Lato"/>
                <a:ea typeface="Lato"/>
                <a:cs typeface="Lato"/>
                <a:sym typeface="Lato"/>
              </a:rPr>
              <a:t>Um grupo de estudantes universitários, com gosto em jogos, reúnem-se numa sala e tentam decidir o que fazer no fim de semana. Como todos têm opiniões diferentes, optam por fazer uma partida de um jogo rápido para decidir que opção escolher. O vencedor do jogo será quem decide o que fazer no fim de semana.</a:t>
            </a:r>
            <a:endParaRPr sz="1500">
              <a:solidFill>
                <a:srgbClr val="434343"/>
              </a:solidFill>
              <a:latin typeface="Lato"/>
              <a:ea typeface="Lato"/>
              <a:cs typeface="Lato"/>
              <a:sym typeface="Lato"/>
            </a:endParaRPr>
          </a:p>
          <a:p>
            <a:pPr marL="457200" lvl="0" indent="0" algn="l" rtl="0">
              <a:spcBef>
                <a:spcPts val="0"/>
              </a:spcBef>
              <a:spcAft>
                <a:spcPts val="0"/>
              </a:spcAft>
              <a:buNone/>
            </a:pPr>
            <a:endParaRPr sz="1500">
              <a:solidFill>
                <a:srgbClr val="434343"/>
              </a:solidFill>
              <a:latin typeface="Lato"/>
              <a:ea typeface="Lato"/>
              <a:cs typeface="Lato"/>
              <a:sym typeface="Lato"/>
            </a:endParaRPr>
          </a:p>
        </p:txBody>
      </p:sp>
      <p:sp>
        <p:nvSpPr>
          <p:cNvPr id="175" name="Google Shape;175;gb76541bbe3_0_420"/>
          <p:cNvSpPr/>
          <p:nvPr/>
        </p:nvSpPr>
        <p:spPr>
          <a:xfrm>
            <a:off x="6109701" y="3898548"/>
            <a:ext cx="1446300" cy="369300"/>
          </a:xfrm>
          <a:prstGeom prst="rect">
            <a:avLst/>
          </a:prstGeom>
          <a:noFill/>
          <a:ln w="19050" cap="flat" cmpd="sng">
            <a:solidFill>
              <a:srgbClr val="3C78D8"/>
            </a:solidFill>
            <a:prstDash val="dot"/>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pt-PT" sz="1600">
                <a:solidFill>
                  <a:srgbClr val="434343"/>
                </a:solidFill>
                <a:latin typeface="Lato"/>
                <a:ea typeface="Lato"/>
                <a:cs typeface="Lato"/>
                <a:sym typeface="Lato"/>
              </a:rPr>
              <a:t>Jogos rápidos</a:t>
            </a:r>
            <a:endParaRPr sz="1600">
              <a:solidFill>
                <a:srgbClr val="434343"/>
              </a:solidFill>
              <a:latin typeface="Lato"/>
              <a:ea typeface="Lato"/>
              <a:cs typeface="Lato"/>
              <a:sym typeface="Lato"/>
            </a:endParaRPr>
          </a:p>
        </p:txBody>
      </p:sp>
      <p:sp>
        <p:nvSpPr>
          <p:cNvPr id="176" name="Google Shape;176;gb76541bbe3_0_420"/>
          <p:cNvSpPr/>
          <p:nvPr/>
        </p:nvSpPr>
        <p:spPr>
          <a:xfrm>
            <a:off x="3813950" y="3898550"/>
            <a:ext cx="1551300" cy="369300"/>
          </a:xfrm>
          <a:prstGeom prst="rect">
            <a:avLst/>
          </a:prstGeom>
          <a:noFill/>
          <a:ln w="19050" cap="flat" cmpd="sng">
            <a:solidFill>
              <a:srgbClr val="3C78D8"/>
            </a:solidFill>
            <a:prstDash val="dot"/>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pt-PT" sz="1600">
                <a:solidFill>
                  <a:srgbClr val="434343"/>
                </a:solidFill>
                <a:latin typeface="Lato"/>
                <a:ea typeface="Lato"/>
                <a:cs typeface="Lato"/>
                <a:sym typeface="Lato"/>
              </a:rPr>
              <a:t>Competitivos</a:t>
            </a:r>
            <a:endParaRPr sz="1600">
              <a:solidFill>
                <a:srgbClr val="434343"/>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b76541bbe3_0_431"/>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Proposta de Design</a:t>
            </a:r>
            <a:endParaRPr sz="2700">
              <a:solidFill>
                <a:srgbClr val="C9DAF8"/>
              </a:solidFill>
            </a:endParaRPr>
          </a:p>
        </p:txBody>
      </p:sp>
      <p:cxnSp>
        <p:nvCxnSpPr>
          <p:cNvPr id="183" name="Google Shape;183;gb76541bbe3_0_431"/>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84" name="Google Shape;184;gb76541bbe3_0_431"/>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85" name="Google Shape;185;gb76541bbe3_0_431"/>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Esboços em papel iniciais</a:t>
            </a:r>
            <a:endParaRPr sz="1500">
              <a:solidFill>
                <a:srgbClr val="434343"/>
              </a:solidFill>
              <a:latin typeface="Lato"/>
              <a:ea typeface="Lato"/>
              <a:cs typeface="Lato"/>
              <a:sym typeface="Lato"/>
            </a:endParaRPr>
          </a:p>
          <a:p>
            <a:pPr marL="457200" lvl="0" indent="0" algn="l" rtl="0">
              <a:spcBef>
                <a:spcPts val="0"/>
              </a:spcBef>
              <a:spcAft>
                <a:spcPts val="0"/>
              </a:spcAft>
              <a:buNone/>
            </a:pPr>
            <a:endParaRPr sz="1500">
              <a:solidFill>
                <a:srgbClr val="434343"/>
              </a:solidFill>
              <a:latin typeface="Lato"/>
              <a:ea typeface="Lato"/>
              <a:cs typeface="Lato"/>
              <a:sym typeface="Lato"/>
            </a:endParaRPr>
          </a:p>
        </p:txBody>
      </p:sp>
      <p:pic>
        <p:nvPicPr>
          <p:cNvPr id="186" name="Google Shape;186;gb76541bbe3_0_431"/>
          <p:cNvPicPr preferRelativeResize="0"/>
          <p:nvPr/>
        </p:nvPicPr>
        <p:blipFill rotWithShape="1">
          <a:blip r:embed="rId3">
            <a:alphaModFix/>
          </a:blip>
          <a:srcRect/>
          <a:stretch/>
        </p:blipFill>
        <p:spPr>
          <a:xfrm>
            <a:off x="2741925" y="1871400"/>
            <a:ext cx="6046750" cy="4278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b76541bbe3_0_443"/>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Proposta de Design</a:t>
            </a:r>
            <a:endParaRPr sz="2700">
              <a:solidFill>
                <a:srgbClr val="C9DAF8"/>
              </a:solidFill>
            </a:endParaRPr>
          </a:p>
        </p:txBody>
      </p:sp>
      <p:cxnSp>
        <p:nvCxnSpPr>
          <p:cNvPr id="193" name="Google Shape;193;gb76541bbe3_0_443"/>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194" name="Google Shape;194;gb76541bbe3_0_443"/>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195" name="Google Shape;195;gb76541bbe3_0_443"/>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Esboços em papel iniciais</a:t>
            </a:r>
            <a:endParaRPr sz="1500">
              <a:solidFill>
                <a:srgbClr val="434343"/>
              </a:solidFill>
              <a:latin typeface="Lato"/>
              <a:ea typeface="Lato"/>
              <a:cs typeface="Lato"/>
              <a:sym typeface="Lato"/>
            </a:endParaRPr>
          </a:p>
          <a:p>
            <a:pPr marL="457200" lvl="0" indent="0" algn="l" rtl="0">
              <a:spcBef>
                <a:spcPts val="0"/>
              </a:spcBef>
              <a:spcAft>
                <a:spcPts val="0"/>
              </a:spcAft>
              <a:buNone/>
            </a:pPr>
            <a:endParaRPr sz="1500">
              <a:solidFill>
                <a:srgbClr val="434343"/>
              </a:solidFill>
              <a:latin typeface="Lato"/>
              <a:ea typeface="Lato"/>
              <a:cs typeface="Lato"/>
              <a:sym typeface="Lato"/>
            </a:endParaRPr>
          </a:p>
        </p:txBody>
      </p:sp>
      <p:pic>
        <p:nvPicPr>
          <p:cNvPr id="196" name="Google Shape;196;gb76541bbe3_0_443"/>
          <p:cNvPicPr preferRelativeResize="0"/>
          <p:nvPr/>
        </p:nvPicPr>
        <p:blipFill rotWithShape="1">
          <a:blip r:embed="rId3">
            <a:alphaModFix/>
          </a:blip>
          <a:srcRect/>
          <a:stretch/>
        </p:blipFill>
        <p:spPr>
          <a:xfrm>
            <a:off x="2741925" y="1871401"/>
            <a:ext cx="6191525" cy="42069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b76541bbe3_0_454"/>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Proposta de Design</a:t>
            </a:r>
            <a:endParaRPr sz="2700">
              <a:solidFill>
                <a:srgbClr val="C9DAF8"/>
              </a:solidFill>
            </a:endParaRPr>
          </a:p>
        </p:txBody>
      </p:sp>
      <p:cxnSp>
        <p:nvCxnSpPr>
          <p:cNvPr id="203" name="Google Shape;203;gb76541bbe3_0_454"/>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04" name="Google Shape;204;gb76541bbe3_0_454"/>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205" name="Google Shape;205;gb76541bbe3_0_454"/>
          <p:cNvSpPr txBox="1"/>
          <p:nvPr/>
        </p:nvSpPr>
        <p:spPr>
          <a:xfrm>
            <a:off x="2651600" y="1347300"/>
            <a:ext cx="6242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sz="1800">
                <a:solidFill>
                  <a:srgbClr val="434343"/>
                </a:solidFill>
                <a:latin typeface="Lato"/>
                <a:ea typeface="Lato"/>
                <a:cs typeface="Lato"/>
                <a:sym typeface="Lato"/>
              </a:rPr>
              <a:t>Como saber se estamos no caminho certo?</a:t>
            </a:r>
            <a:endParaRPr sz="1500">
              <a:solidFill>
                <a:srgbClr val="434343"/>
              </a:solidFill>
              <a:latin typeface="Lato"/>
              <a:ea typeface="Lato"/>
              <a:cs typeface="Lato"/>
              <a:sym typeface="Lato"/>
            </a:endParaRPr>
          </a:p>
        </p:txBody>
      </p:sp>
      <p:sp>
        <p:nvSpPr>
          <p:cNvPr id="206" name="Google Shape;206;gb76541bbe3_0_454"/>
          <p:cNvSpPr/>
          <p:nvPr/>
        </p:nvSpPr>
        <p:spPr>
          <a:xfrm>
            <a:off x="4079423" y="2008025"/>
            <a:ext cx="917100" cy="5232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1600">
                <a:solidFill>
                  <a:srgbClr val="434343"/>
                </a:solidFill>
                <a:latin typeface="Lato"/>
                <a:ea typeface="Lato"/>
                <a:cs typeface="Lato"/>
                <a:sym typeface="Lato"/>
              </a:rPr>
              <a:t>Testes!</a:t>
            </a:r>
            <a:endParaRPr sz="1600">
              <a:solidFill>
                <a:srgbClr val="434343"/>
              </a:solidFill>
              <a:latin typeface="Lato"/>
              <a:ea typeface="Lato"/>
              <a:cs typeface="Lato"/>
              <a:sym typeface="Lato"/>
            </a:endParaRPr>
          </a:p>
        </p:txBody>
      </p:sp>
      <p:sp>
        <p:nvSpPr>
          <p:cNvPr id="207" name="Google Shape;207;gb76541bbe3_0_454"/>
          <p:cNvSpPr/>
          <p:nvPr/>
        </p:nvSpPr>
        <p:spPr>
          <a:xfrm>
            <a:off x="3954152" y="2830100"/>
            <a:ext cx="1235700" cy="5232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1600">
                <a:solidFill>
                  <a:srgbClr val="434343"/>
                </a:solidFill>
                <a:latin typeface="Lato"/>
                <a:ea typeface="Lato"/>
                <a:cs typeface="Lato"/>
                <a:sym typeface="Lato"/>
              </a:rPr>
              <a:t>Feedback</a:t>
            </a:r>
            <a:endParaRPr sz="1600">
              <a:solidFill>
                <a:srgbClr val="434343"/>
              </a:solidFill>
              <a:latin typeface="Lato"/>
              <a:ea typeface="Lato"/>
              <a:cs typeface="Lato"/>
              <a:sym typeface="Lato"/>
            </a:endParaRPr>
          </a:p>
        </p:txBody>
      </p:sp>
      <p:sp>
        <p:nvSpPr>
          <p:cNvPr id="208" name="Google Shape;208;gb76541bbe3_0_454"/>
          <p:cNvSpPr/>
          <p:nvPr/>
        </p:nvSpPr>
        <p:spPr>
          <a:xfrm>
            <a:off x="999035" y="3850341"/>
            <a:ext cx="31533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1600">
                <a:solidFill>
                  <a:srgbClr val="434343"/>
                </a:solidFill>
                <a:latin typeface="Lato"/>
                <a:ea typeface="Lato"/>
                <a:cs typeface="Lato"/>
                <a:sym typeface="Lato"/>
              </a:rPr>
              <a:t>“Desenhos demasiado simples”</a:t>
            </a:r>
            <a:endParaRPr sz="1600">
              <a:solidFill>
                <a:srgbClr val="434343"/>
              </a:solidFill>
              <a:latin typeface="Lato"/>
              <a:ea typeface="Lato"/>
              <a:cs typeface="Lato"/>
              <a:sym typeface="Lato"/>
            </a:endParaRPr>
          </a:p>
        </p:txBody>
      </p:sp>
      <p:sp>
        <p:nvSpPr>
          <p:cNvPr id="209" name="Google Shape;209;gb76541bbe3_0_454"/>
          <p:cNvSpPr/>
          <p:nvPr/>
        </p:nvSpPr>
        <p:spPr>
          <a:xfrm>
            <a:off x="5156328" y="3850341"/>
            <a:ext cx="33435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1600">
                <a:solidFill>
                  <a:srgbClr val="434343"/>
                </a:solidFill>
                <a:latin typeface="Lato"/>
                <a:ea typeface="Lato"/>
                <a:cs typeface="Lato"/>
                <a:sym typeface="Lato"/>
              </a:rPr>
              <a:t>“Não percebo o que é este ícone”</a:t>
            </a:r>
            <a:endParaRPr sz="1600">
              <a:solidFill>
                <a:srgbClr val="434343"/>
              </a:solidFill>
              <a:latin typeface="Lato"/>
              <a:ea typeface="Lato"/>
              <a:cs typeface="Lato"/>
              <a:sym typeface="Lato"/>
            </a:endParaRPr>
          </a:p>
        </p:txBody>
      </p:sp>
      <p:sp>
        <p:nvSpPr>
          <p:cNvPr id="210" name="Google Shape;210;gb76541bbe3_0_454"/>
          <p:cNvSpPr/>
          <p:nvPr/>
        </p:nvSpPr>
        <p:spPr>
          <a:xfrm>
            <a:off x="4025999" y="4716700"/>
            <a:ext cx="1092000" cy="5232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1600">
                <a:solidFill>
                  <a:srgbClr val="434343"/>
                </a:solidFill>
                <a:latin typeface="Lato"/>
                <a:ea typeface="Lato"/>
                <a:cs typeface="Lato"/>
                <a:sym typeface="Lato"/>
              </a:rPr>
              <a:t>Melhorar</a:t>
            </a:r>
            <a:endParaRPr sz="1600">
              <a:solidFill>
                <a:srgbClr val="434343"/>
              </a:solidFill>
              <a:latin typeface="Lato"/>
              <a:ea typeface="Lato"/>
              <a:cs typeface="Lato"/>
              <a:sym typeface="Lato"/>
            </a:endParaRPr>
          </a:p>
        </p:txBody>
      </p:sp>
      <p:sp>
        <p:nvSpPr>
          <p:cNvPr id="211" name="Google Shape;211;gb76541bbe3_0_454"/>
          <p:cNvSpPr/>
          <p:nvPr/>
        </p:nvSpPr>
        <p:spPr>
          <a:xfrm>
            <a:off x="3908843" y="5756641"/>
            <a:ext cx="1326300" cy="5232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sz="1600">
                <a:solidFill>
                  <a:srgbClr val="434343"/>
                </a:solidFill>
                <a:latin typeface="Lato"/>
                <a:ea typeface="Lato"/>
                <a:cs typeface="Lato"/>
                <a:sym typeface="Lato"/>
              </a:rPr>
              <a:t>Testes…</a:t>
            </a:r>
            <a:endParaRPr sz="1600">
              <a:solidFill>
                <a:srgbClr val="434343"/>
              </a:solidFill>
              <a:latin typeface="Lato"/>
              <a:ea typeface="Lato"/>
              <a:cs typeface="Lato"/>
              <a:sym typeface="Lato"/>
            </a:endParaRPr>
          </a:p>
        </p:txBody>
      </p:sp>
      <p:cxnSp>
        <p:nvCxnSpPr>
          <p:cNvPr id="212" name="Google Shape;212;gb76541bbe3_0_454"/>
          <p:cNvCxnSpPr/>
          <p:nvPr/>
        </p:nvCxnSpPr>
        <p:spPr>
          <a:xfrm>
            <a:off x="615925" y="1966200"/>
            <a:ext cx="0" cy="4228500"/>
          </a:xfrm>
          <a:prstGeom prst="straightConnector1">
            <a:avLst/>
          </a:prstGeom>
          <a:noFill/>
          <a:ln w="28575" cap="flat" cmpd="sng">
            <a:solidFill>
              <a:srgbClr val="6D9EEB"/>
            </a:solidFill>
            <a:prstDash val="solid"/>
            <a:round/>
            <a:headEnd type="none" w="sm" len="sm"/>
            <a:tailEnd type="stealth"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b76541bbe3_0_472"/>
          <p:cNvSpPr txBox="1">
            <a:spLocks noGrp="1"/>
          </p:cNvSpPr>
          <p:nvPr>
            <p:ph type="title" idx="4294967295"/>
          </p:nvPr>
        </p:nvSpPr>
        <p:spPr>
          <a:xfrm>
            <a:off x="2611850" y="416053"/>
            <a:ext cx="6321600" cy="60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700">
                <a:solidFill>
                  <a:srgbClr val="C9DAF8"/>
                </a:solidFill>
              </a:rPr>
              <a:t>Proposta de Design</a:t>
            </a:r>
            <a:endParaRPr sz="2700">
              <a:solidFill>
                <a:srgbClr val="C9DAF8"/>
              </a:solidFill>
            </a:endParaRPr>
          </a:p>
        </p:txBody>
      </p:sp>
      <p:cxnSp>
        <p:nvCxnSpPr>
          <p:cNvPr id="219" name="Google Shape;219;gb76541bbe3_0_472"/>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20" name="Google Shape;220;gb76541bbe3_0_472"/>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221" name="Google Shape;221;gb76541bbe3_0_472"/>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Wizard of Oz - ícones usados</a:t>
            </a:r>
            <a:endParaRPr sz="1500">
              <a:solidFill>
                <a:srgbClr val="434343"/>
              </a:solidFill>
              <a:latin typeface="Lato"/>
              <a:ea typeface="Lato"/>
              <a:cs typeface="Lato"/>
              <a:sym typeface="Lato"/>
            </a:endParaRPr>
          </a:p>
          <a:p>
            <a:pPr marL="457200" lvl="0" indent="0" algn="l" rtl="0">
              <a:spcBef>
                <a:spcPts val="0"/>
              </a:spcBef>
              <a:spcAft>
                <a:spcPts val="0"/>
              </a:spcAft>
              <a:buNone/>
            </a:pPr>
            <a:endParaRPr sz="1500">
              <a:solidFill>
                <a:srgbClr val="434343"/>
              </a:solidFill>
              <a:latin typeface="Lato"/>
              <a:ea typeface="Lato"/>
              <a:cs typeface="Lato"/>
              <a:sym typeface="Lato"/>
            </a:endParaRPr>
          </a:p>
        </p:txBody>
      </p:sp>
      <p:pic>
        <p:nvPicPr>
          <p:cNvPr id="222" name="Google Shape;222;gb76541bbe3_0_472"/>
          <p:cNvPicPr preferRelativeResize="0"/>
          <p:nvPr/>
        </p:nvPicPr>
        <p:blipFill rotWithShape="1">
          <a:blip r:embed="rId3">
            <a:alphaModFix/>
          </a:blip>
          <a:srcRect/>
          <a:stretch/>
        </p:blipFill>
        <p:spPr>
          <a:xfrm>
            <a:off x="2611850" y="1871400"/>
            <a:ext cx="6191523" cy="4371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b76541bbe3_0_483"/>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Desenvolvimento da prova de conceito</a:t>
            </a:r>
            <a:endParaRPr sz="2500">
              <a:solidFill>
                <a:srgbClr val="C9DAF8"/>
              </a:solidFill>
            </a:endParaRPr>
          </a:p>
        </p:txBody>
      </p:sp>
      <p:cxnSp>
        <p:nvCxnSpPr>
          <p:cNvPr id="229" name="Google Shape;229;gb76541bbe3_0_483"/>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30" name="Google Shape;230;gb76541bbe3_0_483"/>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231" name="Google Shape;231;gb76541bbe3_0_483"/>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Interface Gráfica</a:t>
            </a:r>
            <a:endParaRPr sz="1500">
              <a:solidFill>
                <a:srgbClr val="434343"/>
              </a:solidFill>
              <a:latin typeface="Lato"/>
              <a:ea typeface="Lato"/>
              <a:cs typeface="Lato"/>
              <a:sym typeface="Lato"/>
            </a:endParaRPr>
          </a:p>
        </p:txBody>
      </p:sp>
      <p:pic>
        <p:nvPicPr>
          <p:cNvPr id="232" name="Google Shape;232;gb76541bbe3_0_483"/>
          <p:cNvPicPr preferRelativeResize="0"/>
          <p:nvPr/>
        </p:nvPicPr>
        <p:blipFill rotWithShape="1">
          <a:blip r:embed="rId3">
            <a:alphaModFix/>
          </a:blip>
          <a:srcRect/>
          <a:stretch/>
        </p:blipFill>
        <p:spPr>
          <a:xfrm>
            <a:off x="2651600" y="2321580"/>
            <a:ext cx="6151774" cy="345387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b76541bbe3_0_493"/>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Desenvolvimento da prova de conceito</a:t>
            </a:r>
            <a:endParaRPr sz="2500">
              <a:solidFill>
                <a:srgbClr val="C9DAF8"/>
              </a:solidFill>
            </a:endParaRPr>
          </a:p>
        </p:txBody>
      </p:sp>
      <p:cxnSp>
        <p:nvCxnSpPr>
          <p:cNvPr id="239" name="Google Shape;239;gb76541bbe3_0_493"/>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40" name="Google Shape;240;gb76541bbe3_0_493"/>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241" name="Google Shape;241;gb76541bbe3_0_493"/>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Locais de interação e ações suportadas</a:t>
            </a:r>
            <a:endParaRPr sz="1500">
              <a:solidFill>
                <a:srgbClr val="434343"/>
              </a:solidFill>
              <a:latin typeface="Lato"/>
              <a:ea typeface="Lato"/>
              <a:cs typeface="Lato"/>
              <a:sym typeface="Lato"/>
            </a:endParaRPr>
          </a:p>
        </p:txBody>
      </p:sp>
      <p:pic>
        <p:nvPicPr>
          <p:cNvPr id="242" name="Google Shape;242;gb76541bbe3_0_493"/>
          <p:cNvPicPr preferRelativeResize="0"/>
          <p:nvPr/>
        </p:nvPicPr>
        <p:blipFill rotWithShape="1">
          <a:blip r:embed="rId3">
            <a:alphaModFix/>
          </a:blip>
          <a:srcRect/>
          <a:stretch/>
        </p:blipFill>
        <p:spPr>
          <a:xfrm>
            <a:off x="742243" y="2096213"/>
            <a:ext cx="3048000" cy="1885950"/>
          </a:xfrm>
          <a:prstGeom prst="rect">
            <a:avLst/>
          </a:prstGeom>
          <a:noFill/>
          <a:ln>
            <a:noFill/>
          </a:ln>
        </p:spPr>
      </p:pic>
      <p:pic>
        <p:nvPicPr>
          <p:cNvPr id="243" name="Google Shape;243;gb76541bbe3_0_493"/>
          <p:cNvPicPr preferRelativeResize="0"/>
          <p:nvPr/>
        </p:nvPicPr>
        <p:blipFill rotWithShape="1">
          <a:blip r:embed="rId4">
            <a:alphaModFix/>
          </a:blip>
          <a:srcRect/>
          <a:stretch/>
        </p:blipFill>
        <p:spPr>
          <a:xfrm>
            <a:off x="5991220" y="2096204"/>
            <a:ext cx="2095500" cy="1895475"/>
          </a:xfrm>
          <a:prstGeom prst="rect">
            <a:avLst/>
          </a:prstGeom>
          <a:noFill/>
          <a:ln>
            <a:noFill/>
          </a:ln>
        </p:spPr>
      </p:pic>
      <p:pic>
        <p:nvPicPr>
          <p:cNvPr id="244" name="Google Shape;244;gb76541bbe3_0_493"/>
          <p:cNvPicPr preferRelativeResize="0"/>
          <p:nvPr/>
        </p:nvPicPr>
        <p:blipFill rotWithShape="1">
          <a:blip r:embed="rId5">
            <a:alphaModFix/>
          </a:blip>
          <a:srcRect/>
          <a:stretch/>
        </p:blipFill>
        <p:spPr>
          <a:xfrm>
            <a:off x="6030062" y="4385217"/>
            <a:ext cx="1943100" cy="1933575"/>
          </a:xfrm>
          <a:prstGeom prst="rect">
            <a:avLst/>
          </a:prstGeom>
          <a:noFill/>
          <a:ln>
            <a:noFill/>
          </a:ln>
        </p:spPr>
      </p:pic>
      <p:cxnSp>
        <p:nvCxnSpPr>
          <p:cNvPr id="245" name="Google Shape;245;gb76541bbe3_0_493"/>
          <p:cNvCxnSpPr/>
          <p:nvPr/>
        </p:nvCxnSpPr>
        <p:spPr>
          <a:xfrm rot="10800000" flipH="1">
            <a:off x="3391350" y="2653175"/>
            <a:ext cx="2578200" cy="23700"/>
          </a:xfrm>
          <a:prstGeom prst="straightConnector1">
            <a:avLst/>
          </a:prstGeom>
          <a:noFill/>
          <a:ln w="28575" cap="flat" cmpd="sng">
            <a:solidFill>
              <a:srgbClr val="6D9EEB"/>
            </a:solidFill>
            <a:prstDash val="solid"/>
            <a:round/>
            <a:headEnd type="none" w="sm" len="sm"/>
            <a:tailEnd type="stealth" w="med" len="med"/>
          </a:ln>
        </p:spPr>
      </p:cxnSp>
      <p:pic>
        <p:nvPicPr>
          <p:cNvPr id="246" name="Google Shape;246;gb76541bbe3_0_493"/>
          <p:cNvPicPr preferRelativeResize="0"/>
          <p:nvPr/>
        </p:nvPicPr>
        <p:blipFill rotWithShape="1">
          <a:blip r:embed="rId6">
            <a:alphaModFix/>
          </a:blip>
          <a:srcRect/>
          <a:stretch/>
        </p:blipFill>
        <p:spPr>
          <a:xfrm>
            <a:off x="1418539" y="4385216"/>
            <a:ext cx="1695401" cy="1677301"/>
          </a:xfrm>
          <a:prstGeom prst="rect">
            <a:avLst/>
          </a:prstGeom>
          <a:noFill/>
          <a:ln>
            <a:noFill/>
          </a:ln>
        </p:spPr>
      </p:pic>
      <p:cxnSp>
        <p:nvCxnSpPr>
          <p:cNvPr id="247" name="Google Shape;247;gb76541bbe3_0_493"/>
          <p:cNvCxnSpPr/>
          <p:nvPr/>
        </p:nvCxnSpPr>
        <p:spPr>
          <a:xfrm>
            <a:off x="3293541" y="5223880"/>
            <a:ext cx="2556900" cy="0"/>
          </a:xfrm>
          <a:prstGeom prst="straightConnector1">
            <a:avLst/>
          </a:prstGeom>
          <a:noFill/>
          <a:ln w="28575" cap="flat" cmpd="sng">
            <a:solidFill>
              <a:srgbClr val="6D9EEB"/>
            </a:solidFill>
            <a:prstDash val="solid"/>
            <a:round/>
            <a:headEnd type="none" w="sm" len="sm"/>
            <a:tailEnd type="stealth"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b76541bbe3_0_510"/>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Desenvolvimento da prova de conceito</a:t>
            </a:r>
            <a:endParaRPr sz="2500">
              <a:solidFill>
                <a:srgbClr val="C9DAF8"/>
              </a:solidFill>
            </a:endParaRPr>
          </a:p>
        </p:txBody>
      </p:sp>
      <p:cxnSp>
        <p:nvCxnSpPr>
          <p:cNvPr id="254" name="Google Shape;254;gb76541bbe3_0_510"/>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55" name="Google Shape;255;gb76541bbe3_0_510"/>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256" name="Google Shape;256;gb76541bbe3_0_510"/>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Locais de interação e ações suportadas</a:t>
            </a:r>
            <a:endParaRPr sz="1500">
              <a:solidFill>
                <a:srgbClr val="434343"/>
              </a:solidFill>
              <a:latin typeface="Lato"/>
              <a:ea typeface="Lato"/>
              <a:cs typeface="Lato"/>
              <a:sym typeface="Lato"/>
            </a:endParaRPr>
          </a:p>
        </p:txBody>
      </p:sp>
      <p:pic>
        <p:nvPicPr>
          <p:cNvPr id="257" name="Google Shape;257;gb76541bbe3_0_510"/>
          <p:cNvPicPr preferRelativeResize="0"/>
          <p:nvPr/>
        </p:nvPicPr>
        <p:blipFill rotWithShape="1">
          <a:blip r:embed="rId3">
            <a:alphaModFix/>
          </a:blip>
          <a:srcRect/>
          <a:stretch/>
        </p:blipFill>
        <p:spPr>
          <a:xfrm>
            <a:off x="945076" y="2568873"/>
            <a:ext cx="7754026" cy="29532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b76541bbe3_0_525"/>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Desenvolvimento da prova de conceito</a:t>
            </a:r>
            <a:endParaRPr sz="2500">
              <a:solidFill>
                <a:srgbClr val="C9DAF8"/>
              </a:solidFill>
            </a:endParaRPr>
          </a:p>
        </p:txBody>
      </p:sp>
      <p:cxnSp>
        <p:nvCxnSpPr>
          <p:cNvPr id="264" name="Google Shape;264;gb76541bbe3_0_525"/>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65" name="Google Shape;265;gb76541bbe3_0_525"/>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266" name="Google Shape;266;gb76541bbe3_0_525"/>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Locais de interação e ações suportadas</a:t>
            </a:r>
            <a:endParaRPr sz="1500">
              <a:solidFill>
                <a:srgbClr val="434343"/>
              </a:solidFill>
              <a:latin typeface="Lato"/>
              <a:ea typeface="Lato"/>
              <a:cs typeface="Lato"/>
              <a:sym typeface="Lato"/>
            </a:endParaRPr>
          </a:p>
        </p:txBody>
      </p:sp>
      <p:pic>
        <p:nvPicPr>
          <p:cNvPr id="267" name="Google Shape;267;gb76541bbe3_0_525"/>
          <p:cNvPicPr preferRelativeResize="0"/>
          <p:nvPr/>
        </p:nvPicPr>
        <p:blipFill rotWithShape="1">
          <a:blip r:embed="rId3">
            <a:alphaModFix/>
          </a:blip>
          <a:srcRect/>
          <a:stretch/>
        </p:blipFill>
        <p:spPr>
          <a:xfrm>
            <a:off x="4328785" y="3064721"/>
            <a:ext cx="1485900" cy="1838325"/>
          </a:xfrm>
          <a:prstGeom prst="rect">
            <a:avLst/>
          </a:prstGeom>
          <a:noFill/>
          <a:ln>
            <a:noFill/>
          </a:ln>
        </p:spPr>
      </p:pic>
      <p:pic>
        <p:nvPicPr>
          <p:cNvPr id="268" name="Google Shape;268;gb76541bbe3_0_525"/>
          <p:cNvPicPr preferRelativeResize="0"/>
          <p:nvPr/>
        </p:nvPicPr>
        <p:blipFill rotWithShape="1">
          <a:blip r:embed="rId4">
            <a:alphaModFix/>
          </a:blip>
          <a:srcRect/>
          <a:stretch/>
        </p:blipFill>
        <p:spPr>
          <a:xfrm>
            <a:off x="2651611" y="3386900"/>
            <a:ext cx="906369" cy="1193950"/>
          </a:xfrm>
          <a:prstGeom prst="rect">
            <a:avLst/>
          </a:prstGeom>
          <a:noFill/>
          <a:ln>
            <a:noFill/>
          </a:ln>
        </p:spPr>
      </p:pic>
      <p:pic>
        <p:nvPicPr>
          <p:cNvPr id="269" name="Google Shape;269;gb76541bbe3_0_525"/>
          <p:cNvPicPr preferRelativeResize="0"/>
          <p:nvPr/>
        </p:nvPicPr>
        <p:blipFill rotWithShape="1">
          <a:blip r:embed="rId5">
            <a:alphaModFix/>
          </a:blip>
          <a:srcRect/>
          <a:stretch/>
        </p:blipFill>
        <p:spPr>
          <a:xfrm>
            <a:off x="2675341" y="2017073"/>
            <a:ext cx="953350" cy="1193950"/>
          </a:xfrm>
          <a:prstGeom prst="rect">
            <a:avLst/>
          </a:prstGeom>
          <a:noFill/>
          <a:ln>
            <a:noFill/>
          </a:ln>
        </p:spPr>
      </p:pic>
      <p:pic>
        <p:nvPicPr>
          <p:cNvPr id="270" name="Google Shape;270;gb76541bbe3_0_525"/>
          <p:cNvPicPr preferRelativeResize="0"/>
          <p:nvPr/>
        </p:nvPicPr>
        <p:blipFill rotWithShape="1">
          <a:blip r:embed="rId6">
            <a:alphaModFix/>
          </a:blip>
          <a:srcRect/>
          <a:stretch/>
        </p:blipFill>
        <p:spPr>
          <a:xfrm>
            <a:off x="2698837" y="4881150"/>
            <a:ext cx="906375" cy="1164132"/>
          </a:xfrm>
          <a:prstGeom prst="rect">
            <a:avLst/>
          </a:prstGeom>
          <a:noFill/>
          <a:ln>
            <a:noFill/>
          </a:ln>
        </p:spPr>
      </p:pic>
      <p:cxnSp>
        <p:nvCxnSpPr>
          <p:cNvPr id="271" name="Google Shape;271;gb76541bbe3_0_525"/>
          <p:cNvCxnSpPr>
            <a:stCxn id="269" idx="3"/>
            <a:endCxn id="270" idx="3"/>
          </p:cNvCxnSpPr>
          <p:nvPr/>
        </p:nvCxnSpPr>
        <p:spPr>
          <a:xfrm flipH="1">
            <a:off x="3605292" y="2614048"/>
            <a:ext cx="23400" cy="2849100"/>
          </a:xfrm>
          <a:prstGeom prst="bentConnector3">
            <a:avLst>
              <a:gd name="adj1" fmla="val -1017628"/>
            </a:avLst>
          </a:prstGeom>
          <a:noFill/>
          <a:ln w="28575" cap="flat" cmpd="sng">
            <a:solidFill>
              <a:srgbClr val="6D9EEB"/>
            </a:solidFill>
            <a:prstDash val="dot"/>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b76541bbe3_0_542"/>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278" name="Google Shape;278;gb76541bbe3_0_542"/>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79" name="Google Shape;279;gb76541bbe3_0_542"/>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280" name="Google Shape;280;gb76541bbe3_0_542"/>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em papel</a:t>
            </a:r>
            <a:endParaRPr sz="1500">
              <a:solidFill>
                <a:srgbClr val="434343"/>
              </a:solidFill>
              <a:latin typeface="Lato"/>
              <a:ea typeface="Lato"/>
              <a:cs typeface="Lato"/>
              <a:sym typeface="Lato"/>
            </a:endParaRPr>
          </a:p>
        </p:txBody>
      </p:sp>
      <p:cxnSp>
        <p:nvCxnSpPr>
          <p:cNvPr id="281" name="Google Shape;281;gb76541bbe3_0_542"/>
          <p:cNvCxnSpPr/>
          <p:nvPr/>
        </p:nvCxnSpPr>
        <p:spPr>
          <a:xfrm flipH="1">
            <a:off x="7980825" y="2759775"/>
            <a:ext cx="2400" cy="716400"/>
          </a:xfrm>
          <a:prstGeom prst="straightConnector1">
            <a:avLst/>
          </a:prstGeom>
          <a:noFill/>
          <a:ln w="28575" cap="flat" cmpd="sng">
            <a:solidFill>
              <a:srgbClr val="6D9EEB"/>
            </a:solidFill>
            <a:prstDash val="solid"/>
            <a:round/>
            <a:headEnd type="none" w="sm" len="sm"/>
            <a:tailEnd type="stealth" w="med" len="med"/>
          </a:ln>
        </p:spPr>
      </p:cxnSp>
      <p:sp>
        <p:nvSpPr>
          <p:cNvPr id="282" name="Google Shape;282;gb76541bbe3_0_542"/>
          <p:cNvSpPr/>
          <p:nvPr/>
        </p:nvSpPr>
        <p:spPr>
          <a:xfrm>
            <a:off x="7089368" y="2169188"/>
            <a:ext cx="1785300" cy="3693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Pré-Questionário</a:t>
            </a:r>
            <a:endParaRPr>
              <a:solidFill>
                <a:srgbClr val="434343"/>
              </a:solidFill>
              <a:latin typeface="Lato"/>
              <a:ea typeface="Lato"/>
              <a:cs typeface="Lato"/>
              <a:sym typeface="Lato"/>
            </a:endParaRPr>
          </a:p>
        </p:txBody>
      </p:sp>
      <p:sp>
        <p:nvSpPr>
          <p:cNvPr id="283" name="Google Shape;283;gb76541bbe3_0_542"/>
          <p:cNvSpPr/>
          <p:nvPr/>
        </p:nvSpPr>
        <p:spPr>
          <a:xfrm>
            <a:off x="7448926" y="3615646"/>
            <a:ext cx="1066200" cy="3693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Interação</a:t>
            </a:r>
            <a:endParaRPr>
              <a:solidFill>
                <a:srgbClr val="434343"/>
              </a:solidFill>
              <a:latin typeface="Lato"/>
              <a:ea typeface="Lato"/>
              <a:cs typeface="Lato"/>
              <a:sym typeface="Lato"/>
            </a:endParaRPr>
          </a:p>
        </p:txBody>
      </p:sp>
      <p:cxnSp>
        <p:nvCxnSpPr>
          <p:cNvPr id="284" name="Google Shape;284;gb76541bbe3_0_542"/>
          <p:cNvCxnSpPr/>
          <p:nvPr/>
        </p:nvCxnSpPr>
        <p:spPr>
          <a:xfrm flipH="1">
            <a:off x="7981425" y="4118738"/>
            <a:ext cx="1200" cy="1089000"/>
          </a:xfrm>
          <a:prstGeom prst="straightConnector1">
            <a:avLst/>
          </a:prstGeom>
          <a:noFill/>
          <a:ln w="28575" cap="flat" cmpd="sng">
            <a:solidFill>
              <a:srgbClr val="6D9EEB"/>
            </a:solidFill>
            <a:prstDash val="solid"/>
            <a:round/>
            <a:headEnd type="none" w="sm" len="sm"/>
            <a:tailEnd type="stealth" w="med" len="med"/>
          </a:ln>
        </p:spPr>
      </p:cxnSp>
      <p:sp>
        <p:nvSpPr>
          <p:cNvPr id="285" name="Google Shape;285;gb76541bbe3_0_542"/>
          <p:cNvSpPr/>
          <p:nvPr/>
        </p:nvSpPr>
        <p:spPr>
          <a:xfrm>
            <a:off x="7133742" y="5341549"/>
            <a:ext cx="1799700" cy="3693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Pós-Questionário</a:t>
            </a:r>
            <a:endParaRPr>
              <a:solidFill>
                <a:srgbClr val="434343"/>
              </a:solidFill>
              <a:latin typeface="Lato"/>
              <a:ea typeface="Lato"/>
              <a:cs typeface="Lato"/>
              <a:sym typeface="Lato"/>
            </a:endParaRPr>
          </a:p>
        </p:txBody>
      </p:sp>
      <p:pic>
        <p:nvPicPr>
          <p:cNvPr id="286" name="Google Shape;286;gb76541bbe3_0_542"/>
          <p:cNvPicPr preferRelativeResize="0"/>
          <p:nvPr/>
        </p:nvPicPr>
        <p:blipFill rotWithShape="1">
          <a:blip r:embed="rId3">
            <a:alphaModFix/>
          </a:blip>
          <a:srcRect/>
          <a:stretch/>
        </p:blipFill>
        <p:spPr>
          <a:xfrm>
            <a:off x="1593337" y="2114333"/>
            <a:ext cx="3672408" cy="1162738"/>
          </a:xfrm>
          <a:prstGeom prst="rect">
            <a:avLst/>
          </a:prstGeom>
          <a:noFill/>
          <a:ln>
            <a:noFill/>
          </a:ln>
        </p:spPr>
      </p:pic>
      <p:pic>
        <p:nvPicPr>
          <p:cNvPr id="287" name="Google Shape;287;gb76541bbe3_0_542"/>
          <p:cNvPicPr preferRelativeResize="0"/>
          <p:nvPr/>
        </p:nvPicPr>
        <p:blipFill rotWithShape="1">
          <a:blip r:embed="rId4">
            <a:alphaModFix/>
          </a:blip>
          <a:srcRect/>
          <a:stretch/>
        </p:blipFill>
        <p:spPr>
          <a:xfrm>
            <a:off x="1517130" y="3520012"/>
            <a:ext cx="5483245" cy="279313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b76541bbe3_0_571"/>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294" name="Google Shape;294;gb76541bbe3_0_571"/>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95" name="Google Shape;295;gb76541bbe3_0_571"/>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296" name="Google Shape;296;gb76541bbe3_0_571"/>
          <p:cNvCxnSpPr>
            <a:endCxn id="297" idx="1"/>
          </p:cNvCxnSpPr>
          <p:nvPr/>
        </p:nvCxnSpPr>
        <p:spPr>
          <a:xfrm rot="10800000" flipH="1">
            <a:off x="4436751" y="1477346"/>
            <a:ext cx="802800" cy="6000"/>
          </a:xfrm>
          <a:prstGeom prst="straightConnector1">
            <a:avLst/>
          </a:prstGeom>
          <a:noFill/>
          <a:ln w="28575" cap="flat" cmpd="sng">
            <a:solidFill>
              <a:srgbClr val="6D9EEB"/>
            </a:solidFill>
            <a:prstDash val="solid"/>
            <a:round/>
            <a:headEnd type="none" w="sm" len="sm"/>
            <a:tailEnd type="stealth" w="med" len="med"/>
          </a:ln>
        </p:spPr>
      </p:cxnSp>
      <p:sp>
        <p:nvSpPr>
          <p:cNvPr id="298" name="Google Shape;298;gb76541bbe3_0_571"/>
          <p:cNvSpPr/>
          <p:nvPr/>
        </p:nvSpPr>
        <p:spPr>
          <a:xfrm>
            <a:off x="2651593" y="1292688"/>
            <a:ext cx="1785300" cy="3693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Pré-Questionário</a:t>
            </a:r>
            <a:endParaRPr>
              <a:solidFill>
                <a:srgbClr val="434343"/>
              </a:solidFill>
              <a:latin typeface="Lato"/>
              <a:ea typeface="Lato"/>
              <a:cs typeface="Lato"/>
              <a:sym typeface="Lato"/>
            </a:endParaRPr>
          </a:p>
        </p:txBody>
      </p:sp>
      <p:sp>
        <p:nvSpPr>
          <p:cNvPr id="297" name="Google Shape;297;gb76541bbe3_0_571"/>
          <p:cNvSpPr/>
          <p:nvPr/>
        </p:nvSpPr>
        <p:spPr>
          <a:xfrm>
            <a:off x="5239551" y="1292696"/>
            <a:ext cx="1066200" cy="3693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Interação</a:t>
            </a:r>
            <a:endParaRPr>
              <a:solidFill>
                <a:srgbClr val="434343"/>
              </a:solidFill>
              <a:latin typeface="Lato"/>
              <a:ea typeface="Lato"/>
              <a:cs typeface="Lato"/>
              <a:sym typeface="Lato"/>
            </a:endParaRPr>
          </a:p>
        </p:txBody>
      </p:sp>
      <p:cxnSp>
        <p:nvCxnSpPr>
          <p:cNvPr id="299" name="Google Shape;299;gb76541bbe3_0_571"/>
          <p:cNvCxnSpPr>
            <a:endCxn id="300" idx="1"/>
          </p:cNvCxnSpPr>
          <p:nvPr/>
        </p:nvCxnSpPr>
        <p:spPr>
          <a:xfrm>
            <a:off x="6305867" y="1474349"/>
            <a:ext cx="618600" cy="3000"/>
          </a:xfrm>
          <a:prstGeom prst="straightConnector1">
            <a:avLst/>
          </a:prstGeom>
          <a:noFill/>
          <a:ln w="28575" cap="flat" cmpd="sng">
            <a:solidFill>
              <a:srgbClr val="6D9EEB"/>
            </a:solidFill>
            <a:prstDash val="solid"/>
            <a:round/>
            <a:headEnd type="none" w="sm" len="sm"/>
            <a:tailEnd type="stealth" w="med" len="med"/>
          </a:ln>
        </p:spPr>
      </p:cxnSp>
      <p:sp>
        <p:nvSpPr>
          <p:cNvPr id="300" name="Google Shape;300;gb76541bbe3_0_571"/>
          <p:cNvSpPr/>
          <p:nvPr/>
        </p:nvSpPr>
        <p:spPr>
          <a:xfrm>
            <a:off x="6924467" y="1292699"/>
            <a:ext cx="1799700" cy="3693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Pós-Questionário</a:t>
            </a:r>
            <a:endParaRPr>
              <a:solidFill>
                <a:srgbClr val="434343"/>
              </a:solidFill>
              <a:latin typeface="Lato"/>
              <a:ea typeface="Lato"/>
              <a:cs typeface="Lato"/>
              <a:sym typeface="Lato"/>
            </a:endParaRPr>
          </a:p>
        </p:txBody>
      </p:sp>
      <p:pic>
        <p:nvPicPr>
          <p:cNvPr id="301" name="Google Shape;301;gb76541bbe3_0_571"/>
          <p:cNvPicPr preferRelativeResize="0"/>
          <p:nvPr/>
        </p:nvPicPr>
        <p:blipFill rotWithShape="1">
          <a:blip r:embed="rId3">
            <a:alphaModFix/>
          </a:blip>
          <a:srcRect/>
          <a:stretch/>
        </p:blipFill>
        <p:spPr>
          <a:xfrm>
            <a:off x="5334902" y="2416928"/>
            <a:ext cx="3598544" cy="2617123"/>
          </a:xfrm>
          <a:prstGeom prst="rect">
            <a:avLst/>
          </a:prstGeom>
          <a:noFill/>
          <a:ln w="9525" cap="flat" cmpd="sng">
            <a:solidFill>
              <a:srgbClr val="6D9EEB"/>
            </a:solidFill>
            <a:prstDash val="solid"/>
            <a:round/>
            <a:headEnd type="none" w="sm" len="sm"/>
            <a:tailEnd type="none" w="sm" len="sm"/>
          </a:ln>
        </p:spPr>
      </p:pic>
      <p:sp>
        <p:nvSpPr>
          <p:cNvPr id="302" name="Google Shape;302;gb76541bbe3_0_571"/>
          <p:cNvSpPr/>
          <p:nvPr/>
        </p:nvSpPr>
        <p:spPr>
          <a:xfrm>
            <a:off x="2611859" y="2467275"/>
            <a:ext cx="2255400" cy="369300"/>
          </a:xfrm>
          <a:prstGeom prst="rect">
            <a:avLst/>
          </a:prstGeom>
          <a:noFill/>
          <a:ln w="28575" cap="flat" cmpd="sng">
            <a:solidFill>
              <a:srgbClr val="6D9EEB"/>
            </a:solidFill>
            <a:prstDash val="dash"/>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Problemas Detetados</a:t>
            </a:r>
            <a:endParaRPr>
              <a:solidFill>
                <a:srgbClr val="434343"/>
              </a:solidFill>
              <a:latin typeface="Lato"/>
              <a:ea typeface="Lato"/>
              <a:cs typeface="Lato"/>
              <a:sym typeface="Lato"/>
            </a:endParaRPr>
          </a:p>
        </p:txBody>
      </p:sp>
      <p:sp>
        <p:nvSpPr>
          <p:cNvPr id="303" name="Google Shape;303;gb76541bbe3_0_571"/>
          <p:cNvSpPr/>
          <p:nvPr/>
        </p:nvSpPr>
        <p:spPr>
          <a:xfrm>
            <a:off x="2475202" y="3524013"/>
            <a:ext cx="2528700" cy="369300"/>
          </a:xfrm>
          <a:prstGeom prst="rect">
            <a:avLst/>
          </a:prstGeom>
          <a:noFill/>
          <a:ln w="28575" cap="flat" cmpd="sng">
            <a:solidFill>
              <a:srgbClr val="6D9EEB"/>
            </a:solidFill>
            <a:prstDash val="dash"/>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Confusão causada pelo “Save”</a:t>
            </a:r>
            <a:endParaRPr>
              <a:solidFill>
                <a:srgbClr val="434343"/>
              </a:solidFill>
              <a:latin typeface="Lato"/>
              <a:ea typeface="Lato"/>
              <a:cs typeface="Lato"/>
              <a:sym typeface="Lato"/>
            </a:endParaRPr>
          </a:p>
        </p:txBody>
      </p:sp>
      <p:sp>
        <p:nvSpPr>
          <p:cNvPr id="304" name="Google Shape;304;gb76541bbe3_0_571"/>
          <p:cNvSpPr/>
          <p:nvPr/>
        </p:nvSpPr>
        <p:spPr>
          <a:xfrm>
            <a:off x="2674696" y="4319298"/>
            <a:ext cx="2129700" cy="369300"/>
          </a:xfrm>
          <a:prstGeom prst="rect">
            <a:avLst/>
          </a:prstGeom>
          <a:noFill/>
          <a:ln w="28575" cap="flat" cmpd="sng">
            <a:solidFill>
              <a:srgbClr val="6D9EEB"/>
            </a:solidFill>
            <a:prstDash val="dash"/>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Mudar para “Keep” !</a:t>
            </a:r>
            <a:endParaRPr>
              <a:solidFill>
                <a:srgbClr val="434343"/>
              </a:solidFill>
              <a:latin typeface="Lato"/>
              <a:ea typeface="Lato"/>
              <a:cs typeface="Lato"/>
              <a:sym typeface="Lato"/>
            </a:endParaRPr>
          </a:p>
        </p:txBody>
      </p:sp>
      <p:cxnSp>
        <p:nvCxnSpPr>
          <p:cNvPr id="305" name="Google Shape;305;gb76541bbe3_0_571"/>
          <p:cNvCxnSpPr>
            <a:stCxn id="303" idx="2"/>
            <a:endCxn id="304" idx="0"/>
          </p:cNvCxnSpPr>
          <p:nvPr/>
        </p:nvCxnSpPr>
        <p:spPr>
          <a:xfrm>
            <a:off x="3739552" y="3893313"/>
            <a:ext cx="0" cy="426000"/>
          </a:xfrm>
          <a:prstGeom prst="straightConnector1">
            <a:avLst/>
          </a:prstGeom>
          <a:noFill/>
          <a:ln w="19050" cap="flat" cmpd="sng">
            <a:solidFill>
              <a:srgbClr val="6D9EEB"/>
            </a:solidFill>
            <a:prstDash val="solid"/>
            <a:round/>
            <a:headEnd type="none" w="med" len="med"/>
            <a:tailEnd type="triangle" w="med" len="med"/>
          </a:ln>
        </p:spPr>
      </p:cxnSp>
      <p:cxnSp>
        <p:nvCxnSpPr>
          <p:cNvPr id="306" name="Google Shape;306;gb76541bbe3_0_571"/>
          <p:cNvCxnSpPr>
            <a:stCxn id="302" idx="2"/>
            <a:endCxn id="303" idx="0"/>
          </p:cNvCxnSpPr>
          <p:nvPr/>
        </p:nvCxnSpPr>
        <p:spPr>
          <a:xfrm>
            <a:off x="3739559" y="2836575"/>
            <a:ext cx="0" cy="687300"/>
          </a:xfrm>
          <a:prstGeom prst="straightConnector1">
            <a:avLst/>
          </a:prstGeom>
          <a:noFill/>
          <a:ln w="19050" cap="flat" cmpd="sng">
            <a:solidFill>
              <a:srgbClr val="6D9EEB"/>
            </a:solidFill>
            <a:prstDash val="dash"/>
            <a:round/>
            <a:headEnd type="none" w="med" len="med"/>
            <a:tailEnd type="triangl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b76541bbe3_0_616"/>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13" name="Google Shape;313;gb76541bbe3_0_616"/>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314" name="Google Shape;314;gb76541bbe3_0_616"/>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315" name="Google Shape;315;gb76541bbe3_0_616"/>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cxnSp>
        <p:nvCxnSpPr>
          <p:cNvPr id="316" name="Google Shape;316;gb76541bbe3_0_616"/>
          <p:cNvCxnSpPr/>
          <p:nvPr/>
        </p:nvCxnSpPr>
        <p:spPr>
          <a:xfrm>
            <a:off x="7783218" y="2980172"/>
            <a:ext cx="0" cy="864000"/>
          </a:xfrm>
          <a:prstGeom prst="straightConnector1">
            <a:avLst/>
          </a:prstGeom>
          <a:noFill/>
          <a:ln w="19050" cap="flat" cmpd="sng">
            <a:solidFill>
              <a:srgbClr val="6D9EEB"/>
            </a:solidFill>
            <a:prstDash val="solid"/>
            <a:round/>
            <a:headEnd type="none" w="sm" len="sm"/>
            <a:tailEnd type="stealth" w="med" len="med"/>
          </a:ln>
        </p:spPr>
      </p:cxnSp>
      <p:sp>
        <p:nvSpPr>
          <p:cNvPr id="317" name="Google Shape;317;gb76541bbe3_0_616"/>
          <p:cNvSpPr/>
          <p:nvPr/>
        </p:nvSpPr>
        <p:spPr>
          <a:xfrm>
            <a:off x="6490825" y="2136550"/>
            <a:ext cx="2584800" cy="5694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User Profile e Pré-Questionário</a:t>
            </a:r>
            <a:endParaRPr>
              <a:solidFill>
                <a:srgbClr val="434343"/>
              </a:solidFill>
              <a:latin typeface="Lato"/>
              <a:ea typeface="Lato"/>
              <a:cs typeface="Lato"/>
              <a:sym typeface="Lato"/>
            </a:endParaRPr>
          </a:p>
        </p:txBody>
      </p:sp>
      <p:sp>
        <p:nvSpPr>
          <p:cNvPr id="318" name="Google Shape;318;gb76541bbe3_0_616"/>
          <p:cNvSpPr/>
          <p:nvPr/>
        </p:nvSpPr>
        <p:spPr>
          <a:xfrm>
            <a:off x="6715875" y="3906425"/>
            <a:ext cx="2300700" cy="5241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Interação e Tabela das Tarefas</a:t>
            </a:r>
            <a:endParaRPr>
              <a:solidFill>
                <a:srgbClr val="434343"/>
              </a:solidFill>
              <a:latin typeface="Lato"/>
              <a:ea typeface="Lato"/>
              <a:cs typeface="Lato"/>
              <a:sym typeface="Lato"/>
            </a:endParaRPr>
          </a:p>
        </p:txBody>
      </p:sp>
      <p:sp>
        <p:nvSpPr>
          <p:cNvPr id="319" name="Google Shape;319;gb76541bbe3_0_616"/>
          <p:cNvSpPr/>
          <p:nvPr/>
        </p:nvSpPr>
        <p:spPr>
          <a:xfrm>
            <a:off x="7333125" y="5193494"/>
            <a:ext cx="1066200" cy="369300"/>
          </a:xfrm>
          <a:prstGeom prst="rect">
            <a:avLst/>
          </a:prstGeom>
          <a:noFill/>
          <a:ln w="28575"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Questões</a:t>
            </a:r>
            <a:endParaRPr>
              <a:solidFill>
                <a:srgbClr val="434343"/>
              </a:solidFill>
              <a:latin typeface="Lato"/>
              <a:ea typeface="Lato"/>
              <a:cs typeface="Lato"/>
              <a:sym typeface="Lato"/>
            </a:endParaRPr>
          </a:p>
        </p:txBody>
      </p:sp>
      <p:pic>
        <p:nvPicPr>
          <p:cNvPr id="320" name="Google Shape;320;gb76541bbe3_0_616"/>
          <p:cNvPicPr preferRelativeResize="0"/>
          <p:nvPr/>
        </p:nvPicPr>
        <p:blipFill rotWithShape="1">
          <a:blip r:embed="rId3">
            <a:alphaModFix/>
          </a:blip>
          <a:srcRect/>
          <a:stretch/>
        </p:blipFill>
        <p:spPr>
          <a:xfrm>
            <a:off x="1020016" y="2053643"/>
            <a:ext cx="4315623" cy="1511622"/>
          </a:xfrm>
          <a:prstGeom prst="rect">
            <a:avLst/>
          </a:prstGeom>
          <a:noFill/>
          <a:ln>
            <a:noFill/>
          </a:ln>
        </p:spPr>
      </p:pic>
      <p:pic>
        <p:nvPicPr>
          <p:cNvPr id="321" name="Google Shape;321;gb76541bbe3_0_616"/>
          <p:cNvPicPr preferRelativeResize="0"/>
          <p:nvPr/>
        </p:nvPicPr>
        <p:blipFill rotWithShape="1">
          <a:blip r:embed="rId4">
            <a:alphaModFix/>
          </a:blip>
          <a:srcRect/>
          <a:stretch/>
        </p:blipFill>
        <p:spPr>
          <a:xfrm>
            <a:off x="411301" y="4214400"/>
            <a:ext cx="5817325" cy="1210425"/>
          </a:xfrm>
          <a:prstGeom prst="rect">
            <a:avLst/>
          </a:prstGeom>
          <a:noFill/>
          <a:ln>
            <a:noFill/>
          </a:ln>
        </p:spPr>
      </p:pic>
      <p:cxnSp>
        <p:nvCxnSpPr>
          <p:cNvPr id="322" name="Google Shape;322;gb76541bbe3_0_616"/>
          <p:cNvCxnSpPr>
            <a:stCxn id="318" idx="2"/>
          </p:cNvCxnSpPr>
          <p:nvPr/>
        </p:nvCxnSpPr>
        <p:spPr>
          <a:xfrm>
            <a:off x="7866225" y="4430525"/>
            <a:ext cx="0" cy="611700"/>
          </a:xfrm>
          <a:prstGeom prst="straightConnector1">
            <a:avLst/>
          </a:prstGeom>
          <a:noFill/>
          <a:ln w="19050" cap="flat" cmpd="sng">
            <a:solidFill>
              <a:srgbClr val="6D9EEB"/>
            </a:solidFill>
            <a:prstDash val="solid"/>
            <a:round/>
            <a:headEnd type="none" w="sm" len="sm"/>
            <a:tailEnd type="stealth"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b76541bbe3_0_639"/>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29" name="Google Shape;329;gb76541bbe3_0_639"/>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330" name="Google Shape;330;gb76541bbe3_0_639"/>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331" name="Google Shape;331;gb76541bbe3_0_639"/>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sp>
        <p:nvSpPr>
          <p:cNvPr id="332" name="Google Shape;332;gb76541bbe3_0_639"/>
          <p:cNvSpPr/>
          <p:nvPr/>
        </p:nvSpPr>
        <p:spPr>
          <a:xfrm>
            <a:off x="4372619" y="2088860"/>
            <a:ext cx="10662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Questões</a:t>
            </a:r>
            <a:endParaRPr>
              <a:solidFill>
                <a:srgbClr val="434343"/>
              </a:solidFill>
              <a:latin typeface="Lato"/>
              <a:ea typeface="Lato"/>
              <a:cs typeface="Lato"/>
              <a:sym typeface="Lato"/>
            </a:endParaRPr>
          </a:p>
        </p:txBody>
      </p:sp>
      <p:sp>
        <p:nvSpPr>
          <p:cNvPr id="333" name="Google Shape;333;gb76541bbe3_0_639"/>
          <p:cNvSpPr/>
          <p:nvPr/>
        </p:nvSpPr>
        <p:spPr>
          <a:xfrm>
            <a:off x="1510231" y="2676773"/>
            <a:ext cx="19293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Questões de Likert</a:t>
            </a:r>
            <a:endParaRPr>
              <a:solidFill>
                <a:srgbClr val="434343"/>
              </a:solidFill>
              <a:latin typeface="Lato"/>
              <a:ea typeface="Lato"/>
              <a:cs typeface="Lato"/>
              <a:sym typeface="Lato"/>
            </a:endParaRPr>
          </a:p>
        </p:txBody>
      </p:sp>
      <p:pic>
        <p:nvPicPr>
          <p:cNvPr id="334" name="Google Shape;334;gb76541bbe3_0_639"/>
          <p:cNvPicPr preferRelativeResize="0"/>
          <p:nvPr/>
        </p:nvPicPr>
        <p:blipFill rotWithShape="1">
          <a:blip r:embed="rId3">
            <a:alphaModFix/>
          </a:blip>
          <a:srcRect/>
          <a:stretch/>
        </p:blipFill>
        <p:spPr>
          <a:xfrm>
            <a:off x="855636" y="3561551"/>
            <a:ext cx="3238500" cy="2209800"/>
          </a:xfrm>
          <a:prstGeom prst="rect">
            <a:avLst/>
          </a:prstGeom>
          <a:noFill/>
          <a:ln>
            <a:noFill/>
          </a:ln>
        </p:spPr>
      </p:pic>
      <p:pic>
        <p:nvPicPr>
          <p:cNvPr id="335" name="Google Shape;335;gb76541bbe3_0_639"/>
          <p:cNvPicPr preferRelativeResize="0"/>
          <p:nvPr/>
        </p:nvPicPr>
        <p:blipFill rotWithShape="1">
          <a:blip r:embed="rId4">
            <a:alphaModFix/>
          </a:blip>
          <a:srcRect/>
          <a:stretch/>
        </p:blipFill>
        <p:spPr>
          <a:xfrm>
            <a:off x="5389643" y="3561551"/>
            <a:ext cx="3238500" cy="2247900"/>
          </a:xfrm>
          <a:prstGeom prst="rect">
            <a:avLst/>
          </a:prstGeom>
          <a:noFill/>
          <a:ln>
            <a:noFill/>
          </a:ln>
        </p:spPr>
      </p:pic>
      <p:sp>
        <p:nvSpPr>
          <p:cNvPr id="336" name="Google Shape;336;gb76541bbe3_0_639"/>
          <p:cNvSpPr/>
          <p:nvPr/>
        </p:nvSpPr>
        <p:spPr>
          <a:xfrm>
            <a:off x="5505749" y="2715638"/>
            <a:ext cx="30063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Questões de Escala Semântica</a:t>
            </a:r>
            <a:endParaRPr>
              <a:solidFill>
                <a:srgbClr val="434343"/>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b76541bbe3_0_659"/>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43" name="Google Shape;343;gb76541bbe3_0_659"/>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344" name="Google Shape;344;gb76541bbe3_0_659"/>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345" name="Google Shape;345;gb76541bbe3_0_659"/>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sp>
        <p:nvSpPr>
          <p:cNvPr id="346" name="Google Shape;346;gb76541bbe3_0_659"/>
          <p:cNvSpPr/>
          <p:nvPr/>
        </p:nvSpPr>
        <p:spPr>
          <a:xfrm>
            <a:off x="4633194" y="2118672"/>
            <a:ext cx="10662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Questões</a:t>
            </a:r>
            <a:endParaRPr>
              <a:solidFill>
                <a:srgbClr val="434343"/>
              </a:solidFill>
              <a:latin typeface="Lato"/>
              <a:ea typeface="Lato"/>
              <a:cs typeface="Lato"/>
              <a:sym typeface="Lato"/>
            </a:endParaRPr>
          </a:p>
        </p:txBody>
      </p:sp>
      <p:sp>
        <p:nvSpPr>
          <p:cNvPr id="347" name="Google Shape;347;gb76541bbe3_0_659"/>
          <p:cNvSpPr/>
          <p:nvPr/>
        </p:nvSpPr>
        <p:spPr>
          <a:xfrm>
            <a:off x="4298252" y="2705412"/>
            <a:ext cx="1736100" cy="3477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Questões Abertas</a:t>
            </a:r>
            <a:endParaRPr>
              <a:solidFill>
                <a:srgbClr val="434343"/>
              </a:solidFill>
              <a:latin typeface="Lato"/>
              <a:ea typeface="Lato"/>
              <a:cs typeface="Lato"/>
              <a:sym typeface="Lato"/>
            </a:endParaRPr>
          </a:p>
        </p:txBody>
      </p:sp>
      <p:pic>
        <p:nvPicPr>
          <p:cNvPr id="348" name="Google Shape;348;gb76541bbe3_0_659"/>
          <p:cNvPicPr preferRelativeResize="0"/>
          <p:nvPr/>
        </p:nvPicPr>
        <p:blipFill rotWithShape="1">
          <a:blip r:embed="rId3">
            <a:alphaModFix/>
          </a:blip>
          <a:srcRect/>
          <a:stretch/>
        </p:blipFill>
        <p:spPr>
          <a:xfrm>
            <a:off x="2651599" y="3300367"/>
            <a:ext cx="5319326" cy="271140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b76541bbe3_0_674"/>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55" name="Google Shape;355;gb76541bbe3_0_674"/>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356" name="Google Shape;356;gb76541bbe3_0_674"/>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357" name="Google Shape;357;gb76541bbe3_0_674"/>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sp>
        <p:nvSpPr>
          <p:cNvPr id="358" name="Google Shape;358;gb76541bbe3_0_674"/>
          <p:cNvSpPr/>
          <p:nvPr/>
        </p:nvSpPr>
        <p:spPr>
          <a:xfrm>
            <a:off x="2714380" y="1871400"/>
            <a:ext cx="19167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Análise dos Dados</a:t>
            </a:r>
            <a:endParaRPr>
              <a:solidFill>
                <a:srgbClr val="434343"/>
              </a:solidFill>
              <a:latin typeface="Lato"/>
              <a:ea typeface="Lato"/>
              <a:cs typeface="Lato"/>
              <a:sym typeface="Lato"/>
            </a:endParaRPr>
          </a:p>
        </p:txBody>
      </p:sp>
      <p:pic>
        <p:nvPicPr>
          <p:cNvPr id="359" name="Google Shape;359;gb76541bbe3_0_674"/>
          <p:cNvPicPr preferRelativeResize="0"/>
          <p:nvPr/>
        </p:nvPicPr>
        <p:blipFill rotWithShape="1">
          <a:blip r:embed="rId3">
            <a:alphaModFix/>
          </a:blip>
          <a:srcRect/>
          <a:stretch/>
        </p:blipFill>
        <p:spPr>
          <a:xfrm>
            <a:off x="2718276" y="2461689"/>
            <a:ext cx="6108750" cy="3782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b76541bbe3_0_686"/>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66" name="Google Shape;366;gb76541bbe3_0_686"/>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367" name="Google Shape;367;gb76541bbe3_0_686"/>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368" name="Google Shape;368;gb76541bbe3_0_686"/>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sp>
        <p:nvSpPr>
          <p:cNvPr id="369" name="Google Shape;369;gb76541bbe3_0_686"/>
          <p:cNvSpPr/>
          <p:nvPr/>
        </p:nvSpPr>
        <p:spPr>
          <a:xfrm>
            <a:off x="2714380" y="1871400"/>
            <a:ext cx="19167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Análise dos Dados</a:t>
            </a:r>
            <a:endParaRPr>
              <a:solidFill>
                <a:srgbClr val="434343"/>
              </a:solidFill>
              <a:latin typeface="Lato"/>
              <a:ea typeface="Lato"/>
              <a:cs typeface="Lato"/>
              <a:sym typeface="Lato"/>
            </a:endParaRPr>
          </a:p>
        </p:txBody>
      </p:sp>
      <p:pic>
        <p:nvPicPr>
          <p:cNvPr id="370" name="Google Shape;370;gb76541bbe3_0_686"/>
          <p:cNvPicPr preferRelativeResize="0"/>
          <p:nvPr/>
        </p:nvPicPr>
        <p:blipFill rotWithShape="1">
          <a:blip r:embed="rId3">
            <a:alphaModFix/>
          </a:blip>
          <a:srcRect/>
          <a:stretch/>
        </p:blipFill>
        <p:spPr>
          <a:xfrm>
            <a:off x="2714375" y="2461700"/>
            <a:ext cx="6133032" cy="37758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b76541bbe3_0_697"/>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77" name="Google Shape;377;gb76541bbe3_0_697"/>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378" name="Google Shape;378;gb76541bbe3_0_697"/>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379" name="Google Shape;379;gb76541bbe3_0_697"/>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sp>
        <p:nvSpPr>
          <p:cNvPr id="380" name="Google Shape;380;gb76541bbe3_0_697"/>
          <p:cNvSpPr/>
          <p:nvPr/>
        </p:nvSpPr>
        <p:spPr>
          <a:xfrm>
            <a:off x="2714380" y="1871400"/>
            <a:ext cx="19167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Análise dos Dados</a:t>
            </a:r>
            <a:endParaRPr>
              <a:solidFill>
                <a:srgbClr val="434343"/>
              </a:solidFill>
              <a:latin typeface="Lato"/>
              <a:ea typeface="Lato"/>
              <a:cs typeface="Lato"/>
              <a:sym typeface="Lato"/>
            </a:endParaRPr>
          </a:p>
        </p:txBody>
      </p:sp>
      <p:pic>
        <p:nvPicPr>
          <p:cNvPr id="381" name="Google Shape;381;gb76541bbe3_0_697"/>
          <p:cNvPicPr preferRelativeResize="0"/>
          <p:nvPr/>
        </p:nvPicPr>
        <p:blipFill rotWithShape="1">
          <a:blip r:embed="rId3">
            <a:alphaModFix/>
          </a:blip>
          <a:srcRect/>
          <a:stretch/>
        </p:blipFill>
        <p:spPr>
          <a:xfrm>
            <a:off x="2714375" y="2461700"/>
            <a:ext cx="5887387" cy="378878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b76541bbe3_0_708"/>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88" name="Google Shape;388;gb76541bbe3_0_708"/>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389" name="Google Shape;389;gb76541bbe3_0_708"/>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390" name="Google Shape;390;gb76541bbe3_0_708"/>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sp>
        <p:nvSpPr>
          <p:cNvPr id="391" name="Google Shape;391;gb76541bbe3_0_708"/>
          <p:cNvSpPr/>
          <p:nvPr/>
        </p:nvSpPr>
        <p:spPr>
          <a:xfrm>
            <a:off x="2714380" y="1871400"/>
            <a:ext cx="19167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Análise dos Dados</a:t>
            </a:r>
            <a:endParaRPr>
              <a:solidFill>
                <a:srgbClr val="434343"/>
              </a:solidFill>
              <a:latin typeface="Lato"/>
              <a:ea typeface="Lato"/>
              <a:cs typeface="Lato"/>
              <a:sym typeface="Lato"/>
            </a:endParaRPr>
          </a:p>
        </p:txBody>
      </p:sp>
      <p:pic>
        <p:nvPicPr>
          <p:cNvPr id="392" name="Google Shape;392;gb76541bbe3_0_708"/>
          <p:cNvPicPr preferRelativeResize="0"/>
          <p:nvPr/>
        </p:nvPicPr>
        <p:blipFill rotWithShape="1">
          <a:blip r:embed="rId3">
            <a:alphaModFix/>
          </a:blip>
          <a:srcRect/>
          <a:stretch/>
        </p:blipFill>
        <p:spPr>
          <a:xfrm>
            <a:off x="2714375" y="2570275"/>
            <a:ext cx="6158253" cy="354768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gb76541bbe3_0_719"/>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399" name="Google Shape;399;gb76541bbe3_0_719"/>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400" name="Google Shape;400;gb76541bbe3_0_719"/>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401" name="Google Shape;401;gb76541bbe3_0_719"/>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Avaliação do protótipo digital</a:t>
            </a:r>
            <a:endParaRPr sz="1500">
              <a:solidFill>
                <a:srgbClr val="434343"/>
              </a:solidFill>
              <a:latin typeface="Lato"/>
              <a:ea typeface="Lato"/>
              <a:cs typeface="Lato"/>
              <a:sym typeface="Lato"/>
            </a:endParaRPr>
          </a:p>
        </p:txBody>
      </p:sp>
      <p:sp>
        <p:nvSpPr>
          <p:cNvPr id="402" name="Google Shape;402;gb76541bbe3_0_719"/>
          <p:cNvSpPr/>
          <p:nvPr/>
        </p:nvSpPr>
        <p:spPr>
          <a:xfrm>
            <a:off x="2714380" y="1871400"/>
            <a:ext cx="19167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Análise dos Dados</a:t>
            </a:r>
            <a:endParaRPr>
              <a:solidFill>
                <a:srgbClr val="434343"/>
              </a:solidFill>
              <a:latin typeface="Lato"/>
              <a:ea typeface="Lato"/>
              <a:cs typeface="Lato"/>
              <a:sym typeface="Lato"/>
            </a:endParaRPr>
          </a:p>
        </p:txBody>
      </p:sp>
      <p:pic>
        <p:nvPicPr>
          <p:cNvPr id="403" name="Google Shape;403;gb76541bbe3_0_719"/>
          <p:cNvPicPr preferRelativeResize="0"/>
          <p:nvPr/>
        </p:nvPicPr>
        <p:blipFill rotWithShape="1">
          <a:blip r:embed="rId3">
            <a:alphaModFix/>
          </a:blip>
          <a:srcRect/>
          <a:stretch/>
        </p:blipFill>
        <p:spPr>
          <a:xfrm>
            <a:off x="2651600" y="2552874"/>
            <a:ext cx="5885241" cy="363903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b76541bbe3_0_730"/>
          <p:cNvSpPr txBox="1">
            <a:spLocks noGrp="1"/>
          </p:cNvSpPr>
          <p:nvPr>
            <p:ph type="title" idx="4294967295"/>
          </p:nvPr>
        </p:nvSpPr>
        <p:spPr>
          <a:xfrm>
            <a:off x="2611850" y="416053"/>
            <a:ext cx="6321600" cy="569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pt-PT" sz="2500">
                <a:solidFill>
                  <a:srgbClr val="C9DAF8"/>
                </a:solidFill>
              </a:rPr>
              <a:t>Avaliação da Experiência</a:t>
            </a:r>
            <a:endParaRPr sz="2500">
              <a:solidFill>
                <a:srgbClr val="C9DAF8"/>
              </a:solidFill>
            </a:endParaRPr>
          </a:p>
        </p:txBody>
      </p:sp>
      <p:cxnSp>
        <p:nvCxnSpPr>
          <p:cNvPr id="410" name="Google Shape;410;gb76541bbe3_0_730"/>
          <p:cNvCxnSpPr/>
          <p:nvPr/>
        </p:nvCxnSpPr>
        <p:spPr>
          <a:xfrm>
            <a:off x="2651600" y="358800"/>
            <a:ext cx="6242100" cy="0"/>
          </a:xfrm>
          <a:prstGeom prst="straightConnector1">
            <a:avLst/>
          </a:prstGeom>
          <a:noFill/>
          <a:ln w="28575" cap="flat" cmpd="sng">
            <a:solidFill>
              <a:srgbClr val="C9DAF8"/>
            </a:solidFill>
            <a:prstDash val="solid"/>
            <a:round/>
            <a:headEnd type="none" w="med" len="med"/>
            <a:tailEnd type="none" w="med" len="med"/>
          </a:ln>
        </p:spPr>
      </p:cxnSp>
      <p:cxnSp>
        <p:nvCxnSpPr>
          <p:cNvPr id="411" name="Google Shape;411;gb76541bbe3_0_730"/>
          <p:cNvCxnSpPr/>
          <p:nvPr/>
        </p:nvCxnSpPr>
        <p:spPr>
          <a:xfrm>
            <a:off x="2651600" y="6465550"/>
            <a:ext cx="6242100" cy="0"/>
          </a:xfrm>
          <a:prstGeom prst="straightConnector1">
            <a:avLst/>
          </a:prstGeom>
          <a:noFill/>
          <a:ln w="28575" cap="flat" cmpd="sng">
            <a:solidFill>
              <a:srgbClr val="C9DAF8"/>
            </a:solidFill>
            <a:prstDash val="solid"/>
            <a:round/>
            <a:headEnd type="none" w="med" len="med"/>
            <a:tailEnd type="none" w="med" len="med"/>
          </a:ln>
        </p:spPr>
      </p:cxnSp>
      <p:sp>
        <p:nvSpPr>
          <p:cNvPr id="412" name="Google Shape;412;gb76541bbe3_0_730"/>
          <p:cNvSpPr txBox="1"/>
          <p:nvPr/>
        </p:nvSpPr>
        <p:spPr>
          <a:xfrm>
            <a:off x="2651600" y="1347300"/>
            <a:ext cx="62421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1800">
                <a:solidFill>
                  <a:srgbClr val="434343"/>
                </a:solidFill>
                <a:latin typeface="Lato"/>
                <a:ea typeface="Lato"/>
                <a:cs typeface="Lato"/>
                <a:sym typeface="Lato"/>
              </a:rPr>
              <a:t>Melhorias</a:t>
            </a:r>
            <a:endParaRPr sz="1500">
              <a:solidFill>
                <a:srgbClr val="434343"/>
              </a:solidFill>
              <a:latin typeface="Lato"/>
              <a:ea typeface="Lato"/>
              <a:cs typeface="Lato"/>
              <a:sym typeface="Lato"/>
            </a:endParaRPr>
          </a:p>
        </p:txBody>
      </p:sp>
      <p:sp>
        <p:nvSpPr>
          <p:cNvPr id="413" name="Google Shape;413;gb76541bbe3_0_730"/>
          <p:cNvSpPr/>
          <p:nvPr/>
        </p:nvSpPr>
        <p:spPr>
          <a:xfrm>
            <a:off x="1100284" y="2337229"/>
            <a:ext cx="20955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Melhorias Efetuadas</a:t>
            </a:r>
            <a:endParaRPr>
              <a:solidFill>
                <a:srgbClr val="434343"/>
              </a:solidFill>
              <a:latin typeface="Lato"/>
              <a:ea typeface="Lato"/>
              <a:cs typeface="Lato"/>
              <a:sym typeface="Lato"/>
            </a:endParaRPr>
          </a:p>
        </p:txBody>
      </p:sp>
      <p:sp>
        <p:nvSpPr>
          <p:cNvPr id="414" name="Google Shape;414;gb76541bbe3_0_730"/>
          <p:cNvSpPr/>
          <p:nvPr/>
        </p:nvSpPr>
        <p:spPr>
          <a:xfrm>
            <a:off x="778072" y="5454159"/>
            <a:ext cx="2763600" cy="369300"/>
          </a:xfrm>
          <a:prstGeom prst="rect">
            <a:avLst/>
          </a:prstGeom>
          <a:noFill/>
          <a:ln w="19050" cap="flat" cmpd="sng">
            <a:solidFill>
              <a:srgbClr val="6D9EEB"/>
            </a:solidFill>
            <a:prstDash val="dot"/>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pt-PT">
                <a:solidFill>
                  <a:srgbClr val="434343"/>
                </a:solidFill>
                <a:latin typeface="Lato"/>
                <a:ea typeface="Lato"/>
                <a:cs typeface="Lato"/>
                <a:sym typeface="Lato"/>
              </a:rPr>
              <a:t>Possíveis Melhorias Futuras</a:t>
            </a:r>
            <a:endParaRPr>
              <a:solidFill>
                <a:srgbClr val="434343"/>
              </a:solidFill>
              <a:latin typeface="Lato"/>
              <a:ea typeface="Lato"/>
              <a:cs typeface="Lato"/>
              <a:sym typeface="Lato"/>
            </a:endParaRPr>
          </a:p>
        </p:txBody>
      </p:sp>
      <p:sp>
        <p:nvSpPr>
          <p:cNvPr id="415" name="Google Shape;415;gb76541bbe3_0_730"/>
          <p:cNvSpPr/>
          <p:nvPr/>
        </p:nvSpPr>
        <p:spPr>
          <a:xfrm>
            <a:off x="3682123" y="2705926"/>
            <a:ext cx="2820000" cy="369300"/>
          </a:xfrm>
          <a:prstGeom prst="rect">
            <a:avLst/>
          </a:prstGeom>
          <a:noFill/>
          <a:ln>
            <a:noFill/>
          </a:ln>
        </p:spPr>
        <p:txBody>
          <a:bodyPr spcFirstLastPara="1" wrap="square" lIns="91425" tIns="45700" rIns="91425" bIns="45700" anchor="t" anchorCtr="0">
            <a:spAutoFit/>
          </a:bodyPr>
          <a:lstStyle/>
          <a:p>
            <a:pPr marL="457200" marR="0" lvl="0" indent="-317500" algn="ctr"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Ícones mais adequados</a:t>
            </a:r>
            <a:endParaRPr>
              <a:solidFill>
                <a:srgbClr val="434343"/>
              </a:solidFill>
              <a:latin typeface="Lato"/>
              <a:ea typeface="Lato"/>
              <a:cs typeface="Lato"/>
              <a:sym typeface="Lato"/>
            </a:endParaRPr>
          </a:p>
        </p:txBody>
      </p:sp>
      <p:sp>
        <p:nvSpPr>
          <p:cNvPr id="416" name="Google Shape;416;gb76541bbe3_0_730"/>
          <p:cNvSpPr/>
          <p:nvPr/>
        </p:nvSpPr>
        <p:spPr>
          <a:xfrm>
            <a:off x="3741350" y="2079275"/>
            <a:ext cx="2520300" cy="369300"/>
          </a:xfrm>
          <a:prstGeom prst="rect">
            <a:avLst/>
          </a:prstGeom>
          <a:noFill/>
          <a:ln>
            <a:noFill/>
          </a:ln>
        </p:spPr>
        <p:txBody>
          <a:bodyPr spcFirstLastPara="1" wrap="square" lIns="91425" tIns="45700" rIns="91425" bIns="45700" anchor="t" anchorCtr="0">
            <a:spAutoFit/>
          </a:bodyPr>
          <a:lstStyle/>
          <a:p>
            <a:pPr marL="457200" marR="0" lvl="0" indent="-317500" algn="ctr"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Tamanho do Joystick</a:t>
            </a:r>
            <a:endParaRPr>
              <a:solidFill>
                <a:srgbClr val="434343"/>
              </a:solidFill>
              <a:latin typeface="Lato"/>
              <a:ea typeface="Lato"/>
              <a:cs typeface="Lato"/>
              <a:sym typeface="Lato"/>
            </a:endParaRPr>
          </a:p>
        </p:txBody>
      </p:sp>
      <p:pic>
        <p:nvPicPr>
          <p:cNvPr id="417" name="Google Shape;417;gb76541bbe3_0_730"/>
          <p:cNvPicPr preferRelativeResize="0"/>
          <p:nvPr/>
        </p:nvPicPr>
        <p:blipFill rotWithShape="1">
          <a:blip r:embed="rId3">
            <a:alphaModFix/>
          </a:blip>
          <a:srcRect/>
          <a:stretch/>
        </p:blipFill>
        <p:spPr>
          <a:xfrm>
            <a:off x="5594608" y="3380459"/>
            <a:ext cx="1095018" cy="1406376"/>
          </a:xfrm>
          <a:prstGeom prst="rect">
            <a:avLst/>
          </a:prstGeom>
          <a:noFill/>
          <a:ln>
            <a:noFill/>
          </a:ln>
        </p:spPr>
      </p:pic>
      <p:pic>
        <p:nvPicPr>
          <p:cNvPr id="418" name="Google Shape;418;gb76541bbe3_0_730"/>
          <p:cNvPicPr preferRelativeResize="0"/>
          <p:nvPr/>
        </p:nvPicPr>
        <p:blipFill rotWithShape="1">
          <a:blip r:embed="rId4">
            <a:alphaModFix/>
          </a:blip>
          <a:srcRect/>
          <a:stretch/>
        </p:blipFill>
        <p:spPr>
          <a:xfrm>
            <a:off x="4169325" y="3368749"/>
            <a:ext cx="1095014" cy="1442478"/>
          </a:xfrm>
          <a:prstGeom prst="rect">
            <a:avLst/>
          </a:prstGeom>
          <a:noFill/>
          <a:ln>
            <a:noFill/>
          </a:ln>
        </p:spPr>
      </p:pic>
      <p:sp>
        <p:nvSpPr>
          <p:cNvPr id="419" name="Google Shape;419;gb76541bbe3_0_730"/>
          <p:cNvSpPr/>
          <p:nvPr/>
        </p:nvSpPr>
        <p:spPr>
          <a:xfrm>
            <a:off x="4027288" y="5176888"/>
            <a:ext cx="1397400" cy="369300"/>
          </a:xfrm>
          <a:prstGeom prst="rect">
            <a:avLst/>
          </a:prstGeom>
          <a:noFill/>
          <a:ln>
            <a:noFill/>
          </a:ln>
        </p:spPr>
        <p:txBody>
          <a:bodyPr spcFirstLastPara="1" wrap="square" lIns="91425" tIns="45700" rIns="91425" bIns="45700" anchor="t" anchorCtr="0">
            <a:spAutoFit/>
          </a:bodyPr>
          <a:lstStyle/>
          <a:p>
            <a:pPr marL="457200" marR="0" lvl="0" indent="-317500" algn="ctr"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Tutorial</a:t>
            </a:r>
            <a:endParaRPr>
              <a:solidFill>
                <a:srgbClr val="434343"/>
              </a:solidFill>
              <a:latin typeface="Lato"/>
              <a:ea typeface="Lato"/>
              <a:cs typeface="Lato"/>
              <a:sym typeface="Lato"/>
            </a:endParaRPr>
          </a:p>
        </p:txBody>
      </p:sp>
      <p:sp>
        <p:nvSpPr>
          <p:cNvPr id="420" name="Google Shape;420;gb76541bbe3_0_730"/>
          <p:cNvSpPr/>
          <p:nvPr/>
        </p:nvSpPr>
        <p:spPr>
          <a:xfrm>
            <a:off x="4086520" y="5731403"/>
            <a:ext cx="2820000" cy="369300"/>
          </a:xfrm>
          <a:prstGeom prst="rect">
            <a:avLst/>
          </a:prstGeom>
          <a:noFill/>
          <a:ln>
            <a:noFill/>
          </a:ln>
        </p:spPr>
        <p:txBody>
          <a:bodyPr spcFirstLastPara="1" wrap="square" lIns="91425" tIns="45700" rIns="91425" bIns="45700" anchor="t" anchorCtr="0">
            <a:spAutoFit/>
          </a:bodyPr>
          <a:lstStyle/>
          <a:p>
            <a:pPr marL="457200" marR="0" lvl="0" indent="-317500" algn="ctr" rtl="0">
              <a:spcBef>
                <a:spcPts val="0"/>
              </a:spcBef>
              <a:spcAft>
                <a:spcPts val="0"/>
              </a:spcAft>
              <a:buClr>
                <a:srgbClr val="434343"/>
              </a:buClr>
              <a:buSzPts val="1400"/>
              <a:buFont typeface="Lato"/>
              <a:buChar char="●"/>
            </a:pPr>
            <a:r>
              <a:rPr lang="pt-PT">
                <a:solidFill>
                  <a:srgbClr val="434343"/>
                </a:solidFill>
                <a:latin typeface="Lato"/>
                <a:ea typeface="Lato"/>
                <a:cs typeface="Lato"/>
                <a:sym typeface="Lato"/>
              </a:rPr>
              <a:t>Interação com as prateleiras</a:t>
            </a:r>
            <a:endParaRPr>
              <a:solidFill>
                <a:srgbClr val="434343"/>
              </a:solidFill>
              <a:latin typeface="Lato"/>
              <a:ea typeface="Lato"/>
              <a:cs typeface="Lato"/>
              <a:sym typeface="Lato"/>
            </a:endParaRPr>
          </a:p>
        </p:txBody>
      </p:sp>
      <p:cxnSp>
        <p:nvCxnSpPr>
          <p:cNvPr id="421" name="Google Shape;421;gb76541bbe3_0_730"/>
          <p:cNvCxnSpPr>
            <a:stCxn id="416" idx="1"/>
            <a:endCxn id="415" idx="1"/>
          </p:cNvCxnSpPr>
          <p:nvPr/>
        </p:nvCxnSpPr>
        <p:spPr>
          <a:xfrm flipH="1">
            <a:off x="3682250" y="2263925"/>
            <a:ext cx="59100" cy="626700"/>
          </a:xfrm>
          <a:prstGeom prst="bentConnector3">
            <a:avLst>
              <a:gd name="adj1" fmla="val 503133"/>
            </a:avLst>
          </a:prstGeom>
          <a:noFill/>
          <a:ln w="28575" cap="flat" cmpd="sng">
            <a:solidFill>
              <a:srgbClr val="6D9EEB"/>
            </a:solidFill>
            <a:prstDash val="dot"/>
            <a:round/>
            <a:headEnd type="none" w="med" len="med"/>
            <a:tailEnd type="none" w="med" len="med"/>
          </a:ln>
        </p:spPr>
      </p:cxnSp>
      <p:cxnSp>
        <p:nvCxnSpPr>
          <p:cNvPr id="422" name="Google Shape;422;gb76541bbe3_0_730"/>
          <p:cNvCxnSpPr>
            <a:stCxn id="419" idx="1"/>
            <a:endCxn id="420" idx="1"/>
          </p:cNvCxnSpPr>
          <p:nvPr/>
        </p:nvCxnSpPr>
        <p:spPr>
          <a:xfrm>
            <a:off x="4027288" y="5361538"/>
            <a:ext cx="59100" cy="554400"/>
          </a:xfrm>
          <a:prstGeom prst="bentConnector3">
            <a:avLst>
              <a:gd name="adj1" fmla="val -402919"/>
            </a:avLst>
          </a:prstGeom>
          <a:noFill/>
          <a:ln w="28575" cap="flat" cmpd="sng">
            <a:solidFill>
              <a:srgbClr val="6D9EEB"/>
            </a:solidFill>
            <a:prstDash val="dot"/>
            <a:round/>
            <a:headEnd type="none" w="med" len="med"/>
            <a:tailEnd type="non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6D9EEB"/>
        </a:solidFill>
        <a:effectLst/>
      </p:bgPr>
    </p:bg>
    <p:spTree>
      <p:nvGrpSpPr>
        <p:cNvPr id="1" name="Shape 426"/>
        <p:cNvGrpSpPr/>
        <p:nvPr/>
      </p:nvGrpSpPr>
      <p:grpSpPr>
        <a:xfrm>
          <a:off x="0" y="0"/>
          <a:ext cx="0" cy="0"/>
          <a:chOff x="0" y="0"/>
          <a:chExt cx="0" cy="0"/>
        </a:xfrm>
      </p:grpSpPr>
      <p:sp>
        <p:nvSpPr>
          <p:cNvPr id="427" name="Google Shape;427;gb76541bbe3_0_751"/>
          <p:cNvSpPr txBox="1">
            <a:spLocks noGrp="1"/>
          </p:cNvSpPr>
          <p:nvPr>
            <p:ph type="ctrTitle"/>
          </p:nvPr>
        </p:nvSpPr>
        <p:spPr>
          <a:xfrm>
            <a:off x="2371725" y="840300"/>
            <a:ext cx="6331500" cy="2055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PT"/>
              <a:t>Obrigada pela atenção!</a:t>
            </a:r>
            <a:endParaRPr/>
          </a:p>
        </p:txBody>
      </p:sp>
      <p:sp>
        <p:nvSpPr>
          <p:cNvPr id="428" name="Google Shape;428;gb76541bbe3_0_751"/>
          <p:cNvSpPr txBox="1">
            <a:spLocks noGrp="1"/>
          </p:cNvSpPr>
          <p:nvPr>
            <p:ph type="subTitle" idx="1"/>
          </p:nvPr>
        </p:nvSpPr>
        <p:spPr>
          <a:xfrm>
            <a:off x="2390267" y="2992100"/>
            <a:ext cx="6331500" cy="1655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t-PT" sz="3000"/>
              <a:t>Questões?</a:t>
            </a:r>
            <a:endParaRPr sz="3000"/>
          </a:p>
        </p:txBody>
      </p:sp>
    </p:spTree>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710</Words>
  <Application>Microsoft Office PowerPoint</Application>
  <PresentationFormat>Apresentação no Ecrã (4:3)</PresentationFormat>
  <Paragraphs>158</Paragraphs>
  <Slides>28</Slides>
  <Notes>28</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28</vt:i4>
      </vt:variant>
    </vt:vector>
  </HeadingPairs>
  <TitlesOfParts>
    <vt:vector size="34" baseType="lpstr">
      <vt:lpstr>Arial</vt:lpstr>
      <vt:lpstr>Lato Light</vt:lpstr>
      <vt:lpstr>Calibri</vt:lpstr>
      <vt:lpstr>Raleway</vt:lpstr>
      <vt:lpstr>Lato</vt:lpstr>
      <vt:lpstr>Swiss</vt:lpstr>
      <vt:lpstr>Projecto NNTO</vt:lpstr>
      <vt:lpstr>O Início</vt:lpstr>
      <vt:lpstr>Conhecimento a Priori</vt:lpstr>
      <vt:lpstr>Definição do problema de interação</vt:lpstr>
      <vt:lpstr>Definição do problema de interação</vt:lpstr>
      <vt:lpstr>Definição do problema de interação</vt:lpstr>
      <vt:lpstr>Definição do problema de interação</vt:lpstr>
      <vt:lpstr>Definição do problema de interação</vt:lpstr>
      <vt:lpstr>Proposta de Design</vt:lpstr>
      <vt:lpstr>Proposta de Design</vt:lpstr>
      <vt:lpstr>Proposta de Design</vt:lpstr>
      <vt:lpstr>Proposta de Design</vt:lpstr>
      <vt:lpstr>Desenvolvimento da prova de conceito</vt:lpstr>
      <vt:lpstr>Desenvolvimento da prova de conceito</vt:lpstr>
      <vt:lpstr>Desenvolvimento da prova de conceito</vt:lpstr>
      <vt:lpstr>Desenvolvimento da prova de conceito</vt:lpstr>
      <vt:lpstr>Avaliação da Experiência</vt:lpstr>
      <vt:lpstr>Avaliação da Experiência</vt:lpstr>
      <vt:lpstr>Avaliação da Experiência</vt:lpstr>
      <vt:lpstr>Avaliação da Experiência</vt:lpstr>
      <vt:lpstr>Avaliação da Experiência</vt:lpstr>
      <vt:lpstr>Avaliação da Experiência</vt:lpstr>
      <vt:lpstr>Avaliação da Experiência</vt:lpstr>
      <vt:lpstr>Avaliação da Experiência</vt:lpstr>
      <vt:lpstr>Avaliação da Experiência</vt:lpstr>
      <vt:lpstr>Avaliação da Experiência</vt:lpstr>
      <vt:lpstr>Avaliação da Experiência</vt:lpstr>
      <vt:lpstr>Obrigada pela atenção!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Projecto NNTO</dc:title>
  <dc:creator>Filipe</dc:creator>
  <cp:lastModifiedBy>Filipe Miguel</cp:lastModifiedBy>
  <cp:revision>1</cp:revision>
  <dcterms:created xsi:type="dcterms:W3CDTF">2021-01-19T01:46:21Z</dcterms:created>
  <dcterms:modified xsi:type="dcterms:W3CDTF">2021-01-20T19:45:03Z</dcterms:modified>
</cp:coreProperties>
</file>